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rimo" charset="1" panose="020B0604020202020204"/>
      <p:regular r:id="rId33"/>
    </p:embeddedFont>
    <p:embeddedFont>
      <p:font typeface="Poppins" charset="1" panose="000005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notesSlides/notesSlide6.xml" Type="http://schemas.openxmlformats.org/officeDocument/2006/relationships/notesSlide"/><Relationship Id="rId4" Target="theme/theme1.xml" Type="http://schemas.openxmlformats.org/officeDocument/2006/relationships/theme"/><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53" Target="notesSlides/notesSlide20.xml" Type="http://schemas.openxmlformats.org/officeDocument/2006/relationships/notesSlide"/><Relationship Id="rId54" Target="notesSlides/notesSlide21.xml" Type="http://schemas.openxmlformats.org/officeDocument/2006/relationships/notesSlide"/><Relationship Id="rId55" Target="notesSlides/notesSlide22.xml" Type="http://schemas.openxmlformats.org/officeDocument/2006/relationships/notesSlide"/><Relationship Id="rId56" Target="notesSlides/notesSlide23.xml" Type="http://schemas.openxmlformats.org/officeDocument/2006/relationships/notesSlide"/><Relationship Id="rId57" Target="notesSlides/notesSlide24.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notesSlides/notesSlide1.xml" Type="http://schemas.openxmlformats.org/officeDocument/2006/relationships/notesSlide"/><Relationship Id="rId20" Target="../media/image18.svg" Type="http://schemas.openxmlformats.org/officeDocument/2006/relationships/image"/><Relationship Id="rId21" Target="../media/image19.png" Type="http://schemas.openxmlformats.org/officeDocument/2006/relationships/image"/><Relationship Id="rId22" Target="../media/image20.svg" Type="http://schemas.openxmlformats.org/officeDocument/2006/relationships/image"/><Relationship Id="rId23" Target="../media/image21.png" Type="http://schemas.openxmlformats.org/officeDocument/2006/relationships/image"/><Relationship Id="rId24" Target="../media/image22.svg" Type="http://schemas.openxmlformats.org/officeDocument/2006/relationships/image"/><Relationship Id="rId25" Target="../media/image23.jpeg" Type="http://schemas.openxmlformats.org/officeDocument/2006/relationships/image"/><Relationship Id="rId26" Target="../media/image24.png" Type="http://schemas.openxmlformats.org/officeDocument/2006/relationships/image"/><Relationship Id="rId27" Target="../media/image25.sv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2" Target="../notesSlides/notesSlide2.xml" Type="http://schemas.openxmlformats.org/officeDocument/2006/relationships/notesSlid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46.png" Type="http://schemas.openxmlformats.org/officeDocument/2006/relationships/image"/><Relationship Id="rId14" Target="../media/image47.svg" Type="http://schemas.openxmlformats.org/officeDocument/2006/relationships/image"/><Relationship Id="rId15" Target="../media/image48.png" Type="http://schemas.openxmlformats.org/officeDocument/2006/relationships/image"/><Relationship Id="rId2" Target="../notesSlides/notesSlide3.xml" Type="http://schemas.openxmlformats.org/officeDocument/2006/relationships/notesSlid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46.png" Type="http://schemas.openxmlformats.org/officeDocument/2006/relationships/image"/><Relationship Id="rId14" Target="../media/image47.svg" Type="http://schemas.openxmlformats.org/officeDocument/2006/relationships/image"/><Relationship Id="rId15" Target="../media/image49.png" Type="http://schemas.openxmlformats.org/officeDocument/2006/relationships/image"/><Relationship Id="rId2" Target="../notesSlides/notesSlide4.xml" Type="http://schemas.openxmlformats.org/officeDocument/2006/relationships/notesSlid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46.png" Type="http://schemas.openxmlformats.org/officeDocument/2006/relationships/image"/><Relationship Id="rId14" Target="../media/image47.svg" Type="http://schemas.openxmlformats.org/officeDocument/2006/relationships/image"/><Relationship Id="rId15" Target="../media/image50.png" Type="http://schemas.openxmlformats.org/officeDocument/2006/relationships/image"/><Relationship Id="rId2" Target="../notesSlides/notesSlide5.xml" Type="http://schemas.openxmlformats.org/officeDocument/2006/relationships/notesSlid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5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46.png" Type="http://schemas.openxmlformats.org/officeDocument/2006/relationships/image"/><Relationship Id="rId14" Target="../media/image47.svg" Type="http://schemas.openxmlformats.org/officeDocument/2006/relationships/image"/><Relationship Id="rId15" Target="../media/image65.png" Type="http://schemas.openxmlformats.org/officeDocument/2006/relationships/image"/><Relationship Id="rId16" Target="../media/image66.svg" Type="http://schemas.openxmlformats.org/officeDocument/2006/relationships/image"/><Relationship Id="rId17" Target="../media/image67.png" Type="http://schemas.openxmlformats.org/officeDocument/2006/relationships/image"/><Relationship Id="rId18" Target="../media/image68.svg" Type="http://schemas.openxmlformats.org/officeDocument/2006/relationships/image"/><Relationship Id="rId19" Target="../media/image69.png" Type="http://schemas.openxmlformats.org/officeDocument/2006/relationships/image"/><Relationship Id="rId2" Target="../notesSlides/notesSlide24.xml" Type="http://schemas.openxmlformats.org/officeDocument/2006/relationships/notesSlide"/><Relationship Id="rId20" Target="../media/image70.svg" Type="http://schemas.openxmlformats.org/officeDocument/2006/relationships/image"/><Relationship Id="rId21" Target="../media/image71.png" Type="http://schemas.openxmlformats.org/officeDocument/2006/relationships/image"/><Relationship Id="rId22" Target="../media/image72.sv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media/image6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12800" y="-588424"/>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51286" y="7595806"/>
            <a:ext cx="7046878" cy="5821082"/>
          </a:xfrm>
          <a:custGeom>
            <a:avLst/>
            <a:gdLst/>
            <a:ahLst/>
            <a:cxnLst/>
            <a:rect r="r" b="b" t="t" l="l"/>
            <a:pathLst>
              <a:path h="5821082" w="7046878">
                <a:moveTo>
                  <a:pt x="0" y="0"/>
                </a:moveTo>
                <a:lnTo>
                  <a:pt x="7046878" y="0"/>
                </a:lnTo>
                <a:lnTo>
                  <a:pt x="7046878" y="5821082"/>
                </a:lnTo>
                <a:lnTo>
                  <a:pt x="0" y="5821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2137105" y="8623732"/>
            <a:ext cx="1391929" cy="1447302"/>
          </a:xfrm>
          <a:custGeom>
            <a:avLst/>
            <a:gdLst/>
            <a:ahLst/>
            <a:cxnLst/>
            <a:rect r="r" b="b" t="t" l="l"/>
            <a:pathLst>
              <a:path h="1447302" w="1391929">
                <a:moveTo>
                  <a:pt x="0" y="0"/>
                </a:moveTo>
                <a:lnTo>
                  <a:pt x="1391929" y="0"/>
                </a:lnTo>
                <a:lnTo>
                  <a:pt x="1391929" y="1447302"/>
                </a:lnTo>
                <a:lnTo>
                  <a:pt x="0" y="14473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442526" y="-3916950"/>
            <a:ext cx="8037933" cy="8581535"/>
          </a:xfrm>
          <a:custGeom>
            <a:avLst/>
            <a:gdLst/>
            <a:ahLst/>
            <a:cxnLst/>
            <a:rect r="r" b="b" t="t" l="l"/>
            <a:pathLst>
              <a:path h="8581535" w="8037933">
                <a:moveTo>
                  <a:pt x="0" y="0"/>
                </a:moveTo>
                <a:lnTo>
                  <a:pt x="8037932" y="0"/>
                </a:lnTo>
                <a:lnTo>
                  <a:pt x="8037932" y="8581534"/>
                </a:lnTo>
                <a:lnTo>
                  <a:pt x="0" y="85815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60122" y="416834"/>
            <a:ext cx="2246621" cy="1522527"/>
          </a:xfrm>
          <a:custGeom>
            <a:avLst/>
            <a:gdLst/>
            <a:ahLst/>
            <a:cxnLst/>
            <a:rect r="r" b="b" t="t" l="l"/>
            <a:pathLst>
              <a:path h="1522527" w="2246621">
                <a:moveTo>
                  <a:pt x="0" y="0"/>
                </a:moveTo>
                <a:lnTo>
                  <a:pt x="2246621" y="0"/>
                </a:lnTo>
                <a:lnTo>
                  <a:pt x="2246621" y="1522526"/>
                </a:lnTo>
                <a:lnTo>
                  <a:pt x="0" y="15225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1987174" y="-890050"/>
            <a:ext cx="5380354" cy="3663968"/>
          </a:xfrm>
          <a:custGeom>
            <a:avLst/>
            <a:gdLst/>
            <a:ahLst/>
            <a:cxnLst/>
            <a:rect r="r" b="b" t="t" l="l"/>
            <a:pathLst>
              <a:path h="3663968" w="5380354">
                <a:moveTo>
                  <a:pt x="0" y="0"/>
                </a:moveTo>
                <a:lnTo>
                  <a:pt x="5380354" y="0"/>
                </a:lnTo>
                <a:lnTo>
                  <a:pt x="5380354" y="3663968"/>
                </a:lnTo>
                <a:lnTo>
                  <a:pt x="0" y="36639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407614" y="8588356"/>
            <a:ext cx="1447480" cy="1547309"/>
          </a:xfrm>
          <a:custGeom>
            <a:avLst/>
            <a:gdLst/>
            <a:ahLst/>
            <a:cxnLst/>
            <a:rect r="r" b="b" t="t" l="l"/>
            <a:pathLst>
              <a:path h="1547309" w="1447480">
                <a:moveTo>
                  <a:pt x="0" y="0"/>
                </a:moveTo>
                <a:lnTo>
                  <a:pt x="1447481" y="0"/>
                </a:lnTo>
                <a:lnTo>
                  <a:pt x="1447481" y="1547308"/>
                </a:lnTo>
                <a:lnTo>
                  <a:pt x="0" y="154730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3724074" y="9609944"/>
            <a:ext cx="4080134" cy="1222406"/>
          </a:xfrm>
          <a:custGeom>
            <a:avLst/>
            <a:gdLst/>
            <a:ahLst/>
            <a:cxnLst/>
            <a:rect r="r" b="b" t="t" l="l"/>
            <a:pathLst>
              <a:path h="1222406" w="4080134">
                <a:moveTo>
                  <a:pt x="0" y="0"/>
                </a:moveTo>
                <a:lnTo>
                  <a:pt x="4080134" y="0"/>
                </a:lnTo>
                <a:lnTo>
                  <a:pt x="4080134" y="1222406"/>
                </a:lnTo>
                <a:lnTo>
                  <a:pt x="0" y="122240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0" id="10"/>
          <p:cNvSpPr/>
          <p:nvPr/>
        </p:nvSpPr>
        <p:spPr>
          <a:xfrm flipH="false" flipV="false" rot="0">
            <a:off x="5784354" y="9209188"/>
            <a:ext cx="1220362" cy="1211722"/>
          </a:xfrm>
          <a:custGeom>
            <a:avLst/>
            <a:gdLst/>
            <a:ahLst/>
            <a:cxnLst/>
            <a:rect r="r" b="b" t="t" l="l"/>
            <a:pathLst>
              <a:path h="1211722" w="1220362">
                <a:moveTo>
                  <a:pt x="0" y="0"/>
                </a:moveTo>
                <a:lnTo>
                  <a:pt x="1220362" y="0"/>
                </a:lnTo>
                <a:lnTo>
                  <a:pt x="1220362" y="1211722"/>
                </a:lnTo>
                <a:lnTo>
                  <a:pt x="0" y="121172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1" id="11"/>
          <p:cNvSpPr/>
          <p:nvPr/>
        </p:nvSpPr>
        <p:spPr>
          <a:xfrm flipH="false" flipV="false" rot="0">
            <a:off x="4423729" y="8521739"/>
            <a:ext cx="3304306" cy="4381408"/>
          </a:xfrm>
          <a:custGeom>
            <a:avLst/>
            <a:gdLst/>
            <a:ahLst/>
            <a:cxnLst/>
            <a:rect r="r" b="b" t="t" l="l"/>
            <a:pathLst>
              <a:path h="4381408" w="3304306">
                <a:moveTo>
                  <a:pt x="0" y="0"/>
                </a:moveTo>
                <a:lnTo>
                  <a:pt x="3304306" y="0"/>
                </a:lnTo>
                <a:lnTo>
                  <a:pt x="3304306" y="4381408"/>
                </a:lnTo>
                <a:lnTo>
                  <a:pt x="0" y="438140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12" id="12"/>
          <p:cNvGrpSpPr/>
          <p:nvPr/>
        </p:nvGrpSpPr>
        <p:grpSpPr>
          <a:xfrm rot="0">
            <a:off x="-806350" y="4031400"/>
            <a:ext cx="1732950" cy="1323550"/>
            <a:chOff x="0" y="0"/>
            <a:chExt cx="2310600" cy="1764733"/>
          </a:xfrm>
        </p:grpSpPr>
        <p:sp>
          <p:nvSpPr>
            <p:cNvPr name="Freeform 13" id="13"/>
            <p:cNvSpPr/>
            <p:nvPr/>
          </p:nvSpPr>
          <p:spPr>
            <a:xfrm flipH="false" flipV="false" rot="0">
              <a:off x="62971" y="127"/>
              <a:ext cx="2140732" cy="1764665"/>
            </a:xfrm>
            <a:custGeom>
              <a:avLst/>
              <a:gdLst/>
              <a:ahLst/>
              <a:cxnLst/>
              <a:rect r="r" b="b" t="t" l="l"/>
              <a:pathLst>
                <a:path h="1764665" w="2140732">
                  <a:moveTo>
                    <a:pt x="1417722" y="0"/>
                  </a:moveTo>
                  <a:cubicBezTo>
                    <a:pt x="986049" y="0"/>
                    <a:pt x="87270" y="388620"/>
                    <a:pt x="80539" y="406019"/>
                  </a:cubicBezTo>
                  <a:cubicBezTo>
                    <a:pt x="-62971" y="768731"/>
                    <a:pt x="-20807" y="1375664"/>
                    <a:pt x="256434" y="1686052"/>
                  </a:cubicBezTo>
                  <a:cubicBezTo>
                    <a:pt x="305710" y="1741297"/>
                    <a:pt x="391943" y="1764665"/>
                    <a:pt x="501163" y="1764665"/>
                  </a:cubicBezTo>
                  <a:cubicBezTo>
                    <a:pt x="1005226" y="1764665"/>
                    <a:pt x="1999128" y="1267714"/>
                    <a:pt x="2111015" y="1122172"/>
                  </a:cubicBezTo>
                  <a:cubicBezTo>
                    <a:pt x="2247540" y="945134"/>
                    <a:pt x="1888892" y="118618"/>
                    <a:pt x="1540023" y="14732"/>
                  </a:cubicBezTo>
                  <a:cubicBezTo>
                    <a:pt x="1505987" y="4572"/>
                    <a:pt x="1464585" y="127"/>
                    <a:pt x="1417722" y="127"/>
                  </a:cubicBezTo>
                  <a:close/>
                </a:path>
              </a:pathLst>
            </a:custGeom>
            <a:solidFill>
              <a:srgbClr val="07C1C3"/>
            </a:solidFill>
          </p:spPr>
        </p:sp>
      </p:grpSp>
      <p:sp>
        <p:nvSpPr>
          <p:cNvPr name="Freeform 14" id="14"/>
          <p:cNvSpPr/>
          <p:nvPr/>
        </p:nvSpPr>
        <p:spPr>
          <a:xfrm flipH="false" flipV="false" rot="0">
            <a:off x="4455059" y="-3226606"/>
            <a:ext cx="5114289" cy="5220936"/>
          </a:xfrm>
          <a:custGeom>
            <a:avLst/>
            <a:gdLst/>
            <a:ahLst/>
            <a:cxnLst/>
            <a:rect r="r" b="b" t="t" l="l"/>
            <a:pathLst>
              <a:path h="5220936" w="5114289">
                <a:moveTo>
                  <a:pt x="0" y="0"/>
                </a:moveTo>
                <a:lnTo>
                  <a:pt x="5114288" y="0"/>
                </a:lnTo>
                <a:lnTo>
                  <a:pt x="5114288" y="5220936"/>
                </a:lnTo>
                <a:lnTo>
                  <a:pt x="0" y="522093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15" id="15"/>
          <p:cNvSpPr txBox="true"/>
          <p:nvPr/>
        </p:nvSpPr>
        <p:spPr>
          <a:xfrm rot="0">
            <a:off x="1531425" y="3266530"/>
            <a:ext cx="8832750" cy="3057525"/>
          </a:xfrm>
          <a:prstGeom prst="rect">
            <a:avLst/>
          </a:prstGeom>
        </p:spPr>
        <p:txBody>
          <a:bodyPr anchor="t" rtlCol="false" tIns="0" lIns="0" bIns="0" rIns="0">
            <a:spAutoFit/>
          </a:bodyPr>
          <a:lstStyle/>
          <a:p>
            <a:pPr algn="l">
              <a:lnSpc>
                <a:spcPts val="11999"/>
              </a:lnSpc>
            </a:pPr>
            <a:r>
              <a:rPr lang="en-US" sz="9999">
                <a:solidFill>
                  <a:srgbClr val="084B87"/>
                </a:solidFill>
                <a:latin typeface="Arimo"/>
                <a:ea typeface="Arimo"/>
                <a:cs typeface="Arimo"/>
                <a:sym typeface="Arimo"/>
              </a:rPr>
              <a:t>BÁO CÁO TIÊM CHỦNG</a:t>
            </a:r>
          </a:p>
        </p:txBody>
      </p:sp>
      <p:sp>
        <p:nvSpPr>
          <p:cNvPr name="TextBox 16" id="16"/>
          <p:cNvSpPr txBox="true"/>
          <p:nvPr/>
        </p:nvSpPr>
        <p:spPr>
          <a:xfrm rot="0">
            <a:off x="1531425" y="6552480"/>
            <a:ext cx="8832750" cy="514350"/>
          </a:xfrm>
          <a:prstGeom prst="rect">
            <a:avLst/>
          </a:prstGeom>
        </p:spPr>
        <p:txBody>
          <a:bodyPr anchor="t" rtlCol="false" tIns="0" lIns="0" bIns="0" rIns="0">
            <a:spAutoFit/>
          </a:bodyPr>
          <a:lstStyle/>
          <a:p>
            <a:pPr algn="l">
              <a:lnSpc>
                <a:spcPts val="3840"/>
              </a:lnSpc>
            </a:pPr>
            <a:r>
              <a:rPr lang="en-US" sz="3200">
                <a:solidFill>
                  <a:srgbClr val="595959"/>
                </a:solidFill>
                <a:latin typeface="Poppins"/>
                <a:ea typeface="Poppins"/>
                <a:cs typeface="Poppins"/>
                <a:sym typeface="Poppins"/>
              </a:rPr>
              <a:t>NGƯỜI THỰC HIỆN: BÙI CÔNG MẠNH</a:t>
            </a:r>
          </a:p>
        </p:txBody>
      </p:sp>
      <p:sp>
        <p:nvSpPr>
          <p:cNvPr name="Freeform 17" id="17"/>
          <p:cNvSpPr/>
          <p:nvPr/>
        </p:nvSpPr>
        <p:spPr>
          <a:xfrm flipH="false" flipV="false" rot="0">
            <a:off x="11576700" y="-112800"/>
            <a:ext cx="11929800" cy="10512600"/>
          </a:xfrm>
          <a:custGeom>
            <a:avLst/>
            <a:gdLst/>
            <a:ahLst/>
            <a:cxnLst/>
            <a:rect r="r" b="b" t="t" l="l"/>
            <a:pathLst>
              <a:path h="10512600" w="11929800">
                <a:moveTo>
                  <a:pt x="0" y="0"/>
                </a:moveTo>
                <a:lnTo>
                  <a:pt x="11929800" y="0"/>
                </a:lnTo>
                <a:lnTo>
                  <a:pt x="11929800" y="10512600"/>
                </a:lnTo>
                <a:lnTo>
                  <a:pt x="0" y="10512600"/>
                </a:lnTo>
                <a:lnTo>
                  <a:pt x="0" y="0"/>
                </a:lnTo>
                <a:close/>
              </a:path>
            </a:pathLst>
          </a:custGeom>
          <a:blipFill>
            <a:blip r:embed="rId25"/>
            <a:stretch>
              <a:fillRect l="0" t="-429" r="39889" b="-1890"/>
            </a:stretch>
          </a:blipFill>
        </p:spPr>
      </p:sp>
      <p:sp>
        <p:nvSpPr>
          <p:cNvPr name="Freeform 18" id="18"/>
          <p:cNvSpPr/>
          <p:nvPr/>
        </p:nvSpPr>
        <p:spPr>
          <a:xfrm flipH="false" flipV="false" rot="0">
            <a:off x="12396528" y="12"/>
            <a:ext cx="2137726" cy="996154"/>
          </a:xfrm>
          <a:custGeom>
            <a:avLst/>
            <a:gdLst/>
            <a:ahLst/>
            <a:cxnLst/>
            <a:rect r="r" b="b" t="t" l="l"/>
            <a:pathLst>
              <a:path h="996154" w="2137726">
                <a:moveTo>
                  <a:pt x="0" y="0"/>
                </a:moveTo>
                <a:lnTo>
                  <a:pt x="2137726" y="0"/>
                </a:lnTo>
                <a:lnTo>
                  <a:pt x="2137726" y="996154"/>
                </a:lnTo>
                <a:lnTo>
                  <a:pt x="0" y="99615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48584" y="9356954"/>
            <a:ext cx="1190832" cy="1497072"/>
          </a:xfrm>
          <a:custGeom>
            <a:avLst/>
            <a:gdLst/>
            <a:ahLst/>
            <a:cxnLst/>
            <a:rect r="r" b="b" t="t" l="l"/>
            <a:pathLst>
              <a:path h="1497072" w="1190832">
                <a:moveTo>
                  <a:pt x="0" y="0"/>
                </a:moveTo>
                <a:lnTo>
                  <a:pt x="1190832" y="0"/>
                </a:lnTo>
                <a:lnTo>
                  <a:pt x="1190832" y="1497072"/>
                </a:lnTo>
                <a:lnTo>
                  <a:pt x="0" y="14970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3637" y="-4090512"/>
            <a:ext cx="4919935" cy="5846200"/>
          </a:xfrm>
          <a:custGeom>
            <a:avLst/>
            <a:gdLst/>
            <a:ahLst/>
            <a:cxnLst/>
            <a:rect r="r" b="b" t="t" l="l"/>
            <a:pathLst>
              <a:path h="5846200" w="4919935">
                <a:moveTo>
                  <a:pt x="0" y="0"/>
                </a:moveTo>
                <a:lnTo>
                  <a:pt x="4919936" y="0"/>
                </a:lnTo>
                <a:lnTo>
                  <a:pt x="4919936" y="5846200"/>
                </a:lnTo>
                <a:lnTo>
                  <a:pt x="0" y="5846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683422" y="-1747631"/>
            <a:ext cx="4951221" cy="4470936"/>
          </a:xfrm>
          <a:custGeom>
            <a:avLst/>
            <a:gdLst/>
            <a:ahLst/>
            <a:cxnLst/>
            <a:rect r="r" b="b" t="t" l="l"/>
            <a:pathLst>
              <a:path h="4470936" w="4951221">
                <a:moveTo>
                  <a:pt x="0" y="0"/>
                </a:moveTo>
                <a:lnTo>
                  <a:pt x="4951220" y="0"/>
                </a:lnTo>
                <a:lnTo>
                  <a:pt x="4951220" y="4470936"/>
                </a:lnTo>
                <a:lnTo>
                  <a:pt x="0" y="4470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90222" y="-24617"/>
            <a:ext cx="1225501" cy="1209626"/>
          </a:xfrm>
          <a:custGeom>
            <a:avLst/>
            <a:gdLst/>
            <a:ahLst/>
            <a:cxnLst/>
            <a:rect r="r" b="b" t="t" l="l"/>
            <a:pathLst>
              <a:path h="1209626" w="1225501">
                <a:moveTo>
                  <a:pt x="0" y="0"/>
                </a:moveTo>
                <a:lnTo>
                  <a:pt x="1225501" y="0"/>
                </a:lnTo>
                <a:lnTo>
                  <a:pt x="1225501" y="1209625"/>
                </a:lnTo>
                <a:lnTo>
                  <a:pt x="0" y="1209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545142" y="-1523450"/>
            <a:ext cx="6578352" cy="3857518"/>
          </a:xfrm>
          <a:custGeom>
            <a:avLst/>
            <a:gdLst/>
            <a:ahLst/>
            <a:cxnLst/>
            <a:rect r="r" b="b" t="t" l="l"/>
            <a:pathLst>
              <a:path h="3857518" w="6578352">
                <a:moveTo>
                  <a:pt x="0" y="0"/>
                </a:moveTo>
                <a:lnTo>
                  <a:pt x="6578352" y="0"/>
                </a:lnTo>
                <a:lnTo>
                  <a:pt x="6578352" y="3857518"/>
                </a:lnTo>
                <a:lnTo>
                  <a:pt x="0" y="385751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7" id="7"/>
          <p:cNvGrpSpPr/>
          <p:nvPr/>
        </p:nvGrpSpPr>
        <p:grpSpPr>
          <a:xfrm rot="-10800000">
            <a:off x="16329482" y="-256432"/>
            <a:ext cx="1732950" cy="1323550"/>
            <a:chOff x="0" y="0"/>
            <a:chExt cx="2310600" cy="1764733"/>
          </a:xfrm>
        </p:grpSpPr>
        <p:sp>
          <p:nvSpPr>
            <p:cNvPr name="Freeform 8" id="8"/>
            <p:cNvSpPr/>
            <p:nvPr/>
          </p:nvSpPr>
          <p:spPr>
            <a:xfrm flipH="false" flipV="false" rot="0">
              <a:off x="62971" y="127"/>
              <a:ext cx="2140732" cy="1764665"/>
            </a:xfrm>
            <a:custGeom>
              <a:avLst/>
              <a:gdLst/>
              <a:ahLst/>
              <a:cxnLst/>
              <a:rect r="r" b="b" t="t" l="l"/>
              <a:pathLst>
                <a:path h="1764665" w="2140732">
                  <a:moveTo>
                    <a:pt x="1417722" y="0"/>
                  </a:moveTo>
                  <a:cubicBezTo>
                    <a:pt x="986049" y="0"/>
                    <a:pt x="87270" y="388620"/>
                    <a:pt x="80539" y="406019"/>
                  </a:cubicBezTo>
                  <a:cubicBezTo>
                    <a:pt x="-62971" y="768731"/>
                    <a:pt x="-20807" y="1375664"/>
                    <a:pt x="256434" y="1686052"/>
                  </a:cubicBezTo>
                  <a:cubicBezTo>
                    <a:pt x="305710" y="1741297"/>
                    <a:pt x="391943" y="1764665"/>
                    <a:pt x="501163" y="1764665"/>
                  </a:cubicBezTo>
                  <a:cubicBezTo>
                    <a:pt x="1005226" y="1764665"/>
                    <a:pt x="1999128" y="1267714"/>
                    <a:pt x="2111015" y="1122172"/>
                  </a:cubicBezTo>
                  <a:cubicBezTo>
                    <a:pt x="2247540" y="945134"/>
                    <a:pt x="1888892" y="118618"/>
                    <a:pt x="1540023" y="14732"/>
                  </a:cubicBezTo>
                  <a:cubicBezTo>
                    <a:pt x="1505987" y="4572"/>
                    <a:pt x="1464585" y="127"/>
                    <a:pt x="1417722" y="127"/>
                  </a:cubicBezTo>
                  <a:close/>
                </a:path>
              </a:pathLst>
            </a:custGeom>
            <a:solidFill>
              <a:srgbClr val="00E1FF"/>
            </a:solidFill>
          </p:spPr>
        </p:sp>
      </p:grpSp>
      <p:sp>
        <p:nvSpPr>
          <p:cNvPr name="TextBox 9" id="9"/>
          <p:cNvSpPr txBox="true"/>
          <p:nvPr/>
        </p:nvSpPr>
        <p:spPr>
          <a:xfrm rot="0">
            <a:off x="10819575" y="3589325"/>
            <a:ext cx="5937000" cy="4838700"/>
          </a:xfrm>
          <a:prstGeom prst="rect">
            <a:avLst/>
          </a:prstGeom>
        </p:spPr>
        <p:txBody>
          <a:bodyPr anchor="t" rtlCol="false" tIns="0" lIns="0" bIns="0" rIns="0">
            <a:spAutoFit/>
          </a:bodyPr>
          <a:lstStyle/>
          <a:p>
            <a:pPr algn="l" marL="515620" indent="-257810" lvl="1">
              <a:lnSpc>
                <a:spcPts val="3480"/>
              </a:lnSpc>
              <a:buFont typeface="Arial"/>
              <a:buChar char="•"/>
            </a:pPr>
            <a:r>
              <a:rPr lang="en-US" sz="2900">
                <a:solidFill>
                  <a:srgbClr val="595959"/>
                </a:solidFill>
                <a:latin typeface="Poppins"/>
                <a:ea typeface="Poppins"/>
                <a:cs typeface="Poppins"/>
                <a:sym typeface="Poppins"/>
              </a:rPr>
              <a:t>Xây dựng Dashboard phân tích tâm lý và hành trình khách hàng</a:t>
            </a:r>
          </a:p>
          <a:p>
            <a:pPr algn="l">
              <a:lnSpc>
                <a:spcPts val="3480"/>
              </a:lnSpc>
            </a:pPr>
            <a:r>
              <a:rPr lang="en-US" sz="2900">
                <a:solidFill>
                  <a:srgbClr val="595959"/>
                </a:solidFill>
                <a:latin typeface="Poppins"/>
                <a:ea typeface="Poppins"/>
                <a:cs typeface="Poppins"/>
                <a:sym typeface="Poppins"/>
              </a:rPr>
              <a:t>Giúp ban lãnh đạo, nhà quản lí nắm được:</a:t>
            </a:r>
          </a:p>
          <a:p>
            <a:pPr algn="l" marL="515620" indent="-257810" lvl="1">
              <a:lnSpc>
                <a:spcPts val="3480"/>
              </a:lnSpc>
              <a:buFont typeface="Arial"/>
              <a:buChar char="•"/>
            </a:pPr>
            <a:r>
              <a:rPr lang="en-US" sz="2900">
                <a:solidFill>
                  <a:srgbClr val="595959"/>
                </a:solidFill>
                <a:latin typeface="Poppins"/>
                <a:ea typeface="Poppins"/>
                <a:cs typeface="Poppins"/>
                <a:sym typeface="Poppins"/>
              </a:rPr>
              <a:t>Mức độ quan tâm đến các hãng vắc xin</a:t>
            </a:r>
          </a:p>
          <a:p>
            <a:pPr algn="l" marL="515620" indent="-257810" lvl="1">
              <a:lnSpc>
                <a:spcPts val="3480"/>
              </a:lnSpc>
              <a:buFont typeface="Arial"/>
              <a:buChar char="•"/>
            </a:pPr>
            <a:r>
              <a:rPr lang="en-US" sz="2900">
                <a:solidFill>
                  <a:srgbClr val="595959"/>
                </a:solidFill>
                <a:latin typeface="Poppins"/>
                <a:ea typeface="Poppins"/>
                <a:cs typeface="Poppins"/>
                <a:sym typeface="Poppins"/>
              </a:rPr>
              <a:t>Động cơ lựa chọn tiêm chủng</a:t>
            </a:r>
          </a:p>
          <a:p>
            <a:pPr algn="l" marL="515620" indent="-257810" lvl="1">
              <a:lnSpc>
                <a:spcPts val="3480"/>
              </a:lnSpc>
              <a:buFont typeface="Arial"/>
              <a:buChar char="•"/>
            </a:pPr>
            <a:r>
              <a:rPr lang="en-US" sz="2900">
                <a:solidFill>
                  <a:srgbClr val="595959"/>
                </a:solidFill>
                <a:latin typeface="Poppins"/>
                <a:ea typeface="Poppins"/>
                <a:cs typeface="Poppins"/>
                <a:sym typeface="Poppins"/>
              </a:rPr>
              <a:t>Các yếu tố ảnh hưởng đến quyết định tiêm chủng</a:t>
            </a:r>
          </a:p>
        </p:txBody>
      </p:sp>
      <p:sp>
        <p:nvSpPr>
          <p:cNvPr name="TextBox 10" id="10"/>
          <p:cNvSpPr txBox="true"/>
          <p:nvPr/>
        </p:nvSpPr>
        <p:spPr>
          <a:xfrm rot="0">
            <a:off x="1531425" y="952900"/>
            <a:ext cx="15225150" cy="942975"/>
          </a:xfrm>
          <a:prstGeom prst="rect">
            <a:avLst/>
          </a:prstGeom>
        </p:spPr>
        <p:txBody>
          <a:bodyPr anchor="t" rtlCol="false" tIns="0" lIns="0" bIns="0" rIns="0">
            <a:spAutoFit/>
          </a:bodyPr>
          <a:lstStyle/>
          <a:p>
            <a:pPr algn="ctr">
              <a:lnSpc>
                <a:spcPts val="7200"/>
              </a:lnSpc>
            </a:pPr>
            <a:r>
              <a:rPr lang="en-US" sz="6000">
                <a:solidFill>
                  <a:srgbClr val="084B87"/>
                </a:solidFill>
                <a:latin typeface="Arimo"/>
                <a:ea typeface="Arimo"/>
                <a:cs typeface="Arimo"/>
                <a:sym typeface="Arimo"/>
              </a:rPr>
              <a:t>TỔNG QUAN DỰ ÁN</a:t>
            </a:r>
          </a:p>
        </p:txBody>
      </p:sp>
      <p:sp>
        <p:nvSpPr>
          <p:cNvPr name="TextBox 11" id="11"/>
          <p:cNvSpPr txBox="true"/>
          <p:nvPr/>
        </p:nvSpPr>
        <p:spPr>
          <a:xfrm rot="0">
            <a:off x="2089250" y="3589325"/>
            <a:ext cx="6009375" cy="4838700"/>
          </a:xfrm>
          <a:prstGeom prst="rect">
            <a:avLst/>
          </a:prstGeom>
        </p:spPr>
        <p:txBody>
          <a:bodyPr anchor="t" rtlCol="false" tIns="0" lIns="0" bIns="0" rIns="0">
            <a:spAutoFit/>
          </a:bodyPr>
          <a:lstStyle/>
          <a:p>
            <a:pPr algn="l" marL="515620" indent="-257810" lvl="1">
              <a:lnSpc>
                <a:spcPts val="3480"/>
              </a:lnSpc>
              <a:buFont typeface="Arial"/>
              <a:buChar char="•"/>
            </a:pPr>
            <a:r>
              <a:rPr lang="en-US" sz="2900">
                <a:solidFill>
                  <a:srgbClr val="595959"/>
                </a:solidFill>
                <a:latin typeface="Poppins"/>
                <a:ea typeface="Poppins"/>
                <a:cs typeface="Poppins"/>
                <a:sym typeface="Poppins"/>
              </a:rPr>
              <a:t>Dự án báo cáo tiêm chủng  theo đơn đặt hàng từ DeltaMV</a:t>
            </a:r>
          </a:p>
          <a:p>
            <a:pPr algn="l" marL="515619" indent="-257810" lvl="1">
              <a:lnSpc>
                <a:spcPts val="3479"/>
              </a:lnSpc>
              <a:buFont typeface="Arial"/>
              <a:buChar char="•"/>
            </a:pPr>
            <a:r>
              <a:rPr lang="en-US" sz="2899">
                <a:solidFill>
                  <a:srgbClr val="595959"/>
                </a:solidFill>
                <a:latin typeface="Poppins"/>
                <a:ea typeface="Poppins"/>
                <a:cs typeface="Poppins"/>
                <a:sym typeface="Poppins"/>
              </a:rPr>
              <a:t>Báo cáo xây dựng dựa trên template và dữ liệu khảo sát khách hàng DeltaMV cung cấp</a:t>
            </a:r>
          </a:p>
          <a:p>
            <a:pPr algn="l" marL="515620" indent="-257810" lvl="1">
              <a:lnSpc>
                <a:spcPts val="3480"/>
              </a:lnSpc>
              <a:buFont typeface="Arial"/>
              <a:buChar char="•"/>
            </a:pPr>
            <a:r>
              <a:rPr lang="en-US" sz="2900">
                <a:solidFill>
                  <a:srgbClr val="595959"/>
                </a:solidFill>
                <a:latin typeface="Poppins"/>
                <a:ea typeface="Poppins"/>
                <a:cs typeface="Poppins"/>
                <a:sym typeface="Poppins"/>
              </a:rPr>
              <a:t>Dữ liệu thu thập tại: TP Hà Nội và TP Hồ Chí Minh</a:t>
            </a:r>
          </a:p>
          <a:p>
            <a:pPr algn="l" marL="515620" indent="-257810" lvl="1">
              <a:lnSpc>
                <a:spcPts val="3480"/>
              </a:lnSpc>
              <a:buFont typeface="Arial"/>
              <a:buChar char="•"/>
            </a:pPr>
            <a:r>
              <a:rPr lang="en-US" sz="2900">
                <a:solidFill>
                  <a:srgbClr val="595959"/>
                </a:solidFill>
                <a:latin typeface="Poppins"/>
                <a:ea typeface="Poppins"/>
                <a:cs typeface="Poppins"/>
                <a:sym typeface="Poppins"/>
              </a:rPr>
              <a:t>Thời gian thu thập: từ tháng 2/2025 đến tháng 4/2025</a:t>
            </a:r>
          </a:p>
        </p:txBody>
      </p:sp>
      <p:sp>
        <p:nvSpPr>
          <p:cNvPr name="TextBox 12" id="12"/>
          <p:cNvSpPr txBox="true"/>
          <p:nvPr/>
        </p:nvSpPr>
        <p:spPr>
          <a:xfrm rot="0">
            <a:off x="2462675" y="2711922"/>
            <a:ext cx="5635950" cy="638175"/>
          </a:xfrm>
          <a:prstGeom prst="rect">
            <a:avLst/>
          </a:prstGeom>
        </p:spPr>
        <p:txBody>
          <a:bodyPr anchor="t" rtlCol="false" tIns="0" lIns="0" bIns="0" rIns="0">
            <a:spAutoFit/>
          </a:bodyPr>
          <a:lstStyle/>
          <a:p>
            <a:pPr algn="l">
              <a:lnSpc>
                <a:spcPts val="4920"/>
              </a:lnSpc>
            </a:pPr>
            <a:r>
              <a:rPr lang="en-US" sz="4100">
                <a:solidFill>
                  <a:srgbClr val="008DDD"/>
                </a:solidFill>
                <a:latin typeface="Arimo"/>
                <a:ea typeface="Arimo"/>
                <a:cs typeface="Arimo"/>
                <a:sym typeface="Arimo"/>
              </a:rPr>
              <a:t>GIỚI THIỆU DỰ ÁN</a:t>
            </a:r>
          </a:p>
        </p:txBody>
      </p:sp>
      <p:sp>
        <p:nvSpPr>
          <p:cNvPr name="TextBox 13" id="13"/>
          <p:cNvSpPr txBox="true"/>
          <p:nvPr/>
        </p:nvSpPr>
        <p:spPr>
          <a:xfrm rot="0">
            <a:off x="11294025" y="2711922"/>
            <a:ext cx="5462550" cy="638175"/>
          </a:xfrm>
          <a:prstGeom prst="rect">
            <a:avLst/>
          </a:prstGeom>
        </p:spPr>
        <p:txBody>
          <a:bodyPr anchor="t" rtlCol="false" tIns="0" lIns="0" bIns="0" rIns="0">
            <a:spAutoFit/>
          </a:bodyPr>
          <a:lstStyle/>
          <a:p>
            <a:pPr algn="l">
              <a:lnSpc>
                <a:spcPts val="4920"/>
              </a:lnSpc>
            </a:pPr>
            <a:r>
              <a:rPr lang="en-US" sz="4100">
                <a:solidFill>
                  <a:srgbClr val="008DDD"/>
                </a:solidFill>
                <a:latin typeface="Arimo"/>
                <a:ea typeface="Arimo"/>
                <a:cs typeface="Arimo"/>
                <a:sym typeface="Arimo"/>
              </a:rPr>
              <a:t>MỤC TIÊU DỰ ÁN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5113800" y="-728650"/>
            <a:ext cx="3595818" cy="3338806"/>
          </a:xfrm>
          <a:custGeom>
            <a:avLst/>
            <a:gdLst/>
            <a:ahLst/>
            <a:cxnLst/>
            <a:rect r="r" b="b" t="t" l="l"/>
            <a:pathLst>
              <a:path h="3338806" w="3595818">
                <a:moveTo>
                  <a:pt x="0" y="0"/>
                </a:moveTo>
                <a:lnTo>
                  <a:pt x="3595818" y="0"/>
                </a:lnTo>
                <a:lnTo>
                  <a:pt x="3595818" y="3338806"/>
                </a:lnTo>
                <a:lnTo>
                  <a:pt x="0" y="33388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246336" y="263008"/>
            <a:ext cx="1870888" cy="1601102"/>
          </a:xfrm>
          <a:custGeom>
            <a:avLst/>
            <a:gdLst/>
            <a:ahLst/>
            <a:cxnLst/>
            <a:rect r="r" b="b" t="t" l="l"/>
            <a:pathLst>
              <a:path h="1601102" w="1870888">
                <a:moveTo>
                  <a:pt x="0" y="0"/>
                </a:moveTo>
                <a:lnTo>
                  <a:pt x="1870888" y="0"/>
                </a:lnTo>
                <a:lnTo>
                  <a:pt x="1870888" y="1601102"/>
                </a:lnTo>
                <a:lnTo>
                  <a:pt x="0" y="16011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508632" y="-1525102"/>
            <a:ext cx="6678716" cy="4931559"/>
          </a:xfrm>
          <a:custGeom>
            <a:avLst/>
            <a:gdLst/>
            <a:ahLst/>
            <a:cxnLst/>
            <a:rect r="r" b="b" t="t" l="l"/>
            <a:pathLst>
              <a:path h="4931559" w="6678716">
                <a:moveTo>
                  <a:pt x="0" y="0"/>
                </a:moveTo>
                <a:lnTo>
                  <a:pt x="6678716" y="0"/>
                </a:lnTo>
                <a:lnTo>
                  <a:pt x="6678716" y="4931558"/>
                </a:lnTo>
                <a:lnTo>
                  <a:pt x="0" y="4931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7121781" y="1947604"/>
            <a:ext cx="9575719" cy="6391793"/>
          </a:xfrm>
          <a:custGeom>
            <a:avLst/>
            <a:gdLst/>
            <a:ahLst/>
            <a:cxnLst/>
            <a:rect r="r" b="b" t="t" l="l"/>
            <a:pathLst>
              <a:path h="6391793" w="9575719">
                <a:moveTo>
                  <a:pt x="0" y="0"/>
                </a:moveTo>
                <a:lnTo>
                  <a:pt x="9575719" y="0"/>
                </a:lnTo>
                <a:lnTo>
                  <a:pt x="9575719" y="6391792"/>
                </a:lnTo>
                <a:lnTo>
                  <a:pt x="0" y="6391792"/>
                </a:lnTo>
                <a:lnTo>
                  <a:pt x="0" y="0"/>
                </a:lnTo>
                <a:close/>
              </a:path>
            </a:pathLst>
          </a:custGeom>
          <a:blipFill>
            <a:blip r:embed="rId15"/>
            <a:stretch>
              <a:fillRect l="0" t="0" r="0" b="0"/>
            </a:stretch>
          </a:blipFill>
        </p:spPr>
      </p:sp>
      <p:sp>
        <p:nvSpPr>
          <p:cNvPr name="TextBox 11" id="11"/>
          <p:cNvSpPr txBox="true"/>
          <p:nvPr/>
        </p:nvSpPr>
        <p:spPr>
          <a:xfrm rot="0">
            <a:off x="1205650" y="597777"/>
            <a:ext cx="15225150" cy="942975"/>
          </a:xfrm>
          <a:prstGeom prst="rect">
            <a:avLst/>
          </a:prstGeom>
        </p:spPr>
        <p:txBody>
          <a:bodyPr anchor="t" rtlCol="false" tIns="0" lIns="0" bIns="0" rIns="0">
            <a:spAutoFit/>
          </a:bodyPr>
          <a:lstStyle/>
          <a:p>
            <a:pPr algn="l">
              <a:lnSpc>
                <a:spcPts val="7200"/>
              </a:lnSpc>
            </a:pPr>
            <a:r>
              <a:rPr lang="en-US" sz="6000">
                <a:solidFill>
                  <a:srgbClr val="084B87"/>
                </a:solidFill>
                <a:latin typeface="Arimo"/>
                <a:ea typeface="Arimo"/>
                <a:cs typeface="Arimo"/>
                <a:sym typeface="Arimo"/>
              </a:rPr>
              <a:t>DATA DICTIONARY</a:t>
            </a:r>
          </a:p>
        </p:txBody>
      </p:sp>
      <p:sp>
        <p:nvSpPr>
          <p:cNvPr name="TextBox 12" id="12"/>
          <p:cNvSpPr txBox="true"/>
          <p:nvPr/>
        </p:nvSpPr>
        <p:spPr>
          <a:xfrm rot="0">
            <a:off x="0" y="1806960"/>
            <a:ext cx="6797918" cy="4210050"/>
          </a:xfrm>
          <a:prstGeom prst="rect">
            <a:avLst/>
          </a:prstGeom>
        </p:spPr>
        <p:txBody>
          <a:bodyPr anchor="t" rtlCol="false" tIns="0" lIns="0" bIns="0" rIns="0">
            <a:spAutoFit/>
          </a:bodyPr>
          <a:lstStyle/>
          <a:p>
            <a:pPr algn="just" marL="861422" indent="-430711" lvl="1">
              <a:lnSpc>
                <a:spcPts val="4787"/>
              </a:lnSpc>
              <a:buFont typeface="Arial"/>
              <a:buChar char="•"/>
            </a:pPr>
            <a:r>
              <a:rPr lang="en-US" sz="3989">
                <a:solidFill>
                  <a:srgbClr val="084B87"/>
                </a:solidFill>
                <a:latin typeface="Arimo"/>
                <a:ea typeface="Arimo"/>
                <a:cs typeface="Arimo"/>
                <a:sym typeface="Arimo"/>
              </a:rPr>
              <a:t>Có tổng cộng 38 bảng được xây dựng dựa trên nghiệp vụ và phiếu khảo sát</a:t>
            </a:r>
          </a:p>
          <a:p>
            <a:pPr algn="just" marL="861422" indent="-430711" lvl="1">
              <a:lnSpc>
                <a:spcPts val="4787"/>
              </a:lnSpc>
              <a:buFont typeface="Arial"/>
              <a:buChar char="•"/>
            </a:pPr>
            <a:r>
              <a:rPr lang="en-US" sz="3989">
                <a:solidFill>
                  <a:srgbClr val="084B87"/>
                </a:solidFill>
                <a:latin typeface="Arimo"/>
                <a:ea typeface="Arimo"/>
                <a:cs typeface="Arimo"/>
                <a:sym typeface="Arimo"/>
              </a:rPr>
              <a:t>Cột đầu tiên thể hiện tên bảng, cột thứ 2 thể hiện ý nghĩa của bảng đó</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5113800" y="-728650"/>
            <a:ext cx="3595818" cy="3338806"/>
          </a:xfrm>
          <a:custGeom>
            <a:avLst/>
            <a:gdLst/>
            <a:ahLst/>
            <a:cxnLst/>
            <a:rect r="r" b="b" t="t" l="l"/>
            <a:pathLst>
              <a:path h="3338806" w="3595818">
                <a:moveTo>
                  <a:pt x="0" y="0"/>
                </a:moveTo>
                <a:lnTo>
                  <a:pt x="3595818" y="0"/>
                </a:lnTo>
                <a:lnTo>
                  <a:pt x="3595818" y="3338806"/>
                </a:lnTo>
                <a:lnTo>
                  <a:pt x="0" y="33388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246336" y="263008"/>
            <a:ext cx="1870888" cy="1601102"/>
          </a:xfrm>
          <a:custGeom>
            <a:avLst/>
            <a:gdLst/>
            <a:ahLst/>
            <a:cxnLst/>
            <a:rect r="r" b="b" t="t" l="l"/>
            <a:pathLst>
              <a:path h="1601102" w="1870888">
                <a:moveTo>
                  <a:pt x="0" y="0"/>
                </a:moveTo>
                <a:lnTo>
                  <a:pt x="1870888" y="0"/>
                </a:lnTo>
                <a:lnTo>
                  <a:pt x="1870888" y="1601102"/>
                </a:lnTo>
                <a:lnTo>
                  <a:pt x="0" y="16011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508632" y="-1525102"/>
            <a:ext cx="6678716" cy="4931559"/>
          </a:xfrm>
          <a:custGeom>
            <a:avLst/>
            <a:gdLst/>
            <a:ahLst/>
            <a:cxnLst/>
            <a:rect r="r" b="b" t="t" l="l"/>
            <a:pathLst>
              <a:path h="4931559" w="6678716">
                <a:moveTo>
                  <a:pt x="0" y="0"/>
                </a:moveTo>
                <a:lnTo>
                  <a:pt x="6678716" y="0"/>
                </a:lnTo>
                <a:lnTo>
                  <a:pt x="6678716" y="4931558"/>
                </a:lnTo>
                <a:lnTo>
                  <a:pt x="0" y="4931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3045222" y="2250518"/>
            <a:ext cx="12465053" cy="6606478"/>
          </a:xfrm>
          <a:custGeom>
            <a:avLst/>
            <a:gdLst/>
            <a:ahLst/>
            <a:cxnLst/>
            <a:rect r="r" b="b" t="t" l="l"/>
            <a:pathLst>
              <a:path h="6606478" w="12465053">
                <a:moveTo>
                  <a:pt x="0" y="0"/>
                </a:moveTo>
                <a:lnTo>
                  <a:pt x="12465053" y="0"/>
                </a:lnTo>
                <a:lnTo>
                  <a:pt x="12465053" y="6606478"/>
                </a:lnTo>
                <a:lnTo>
                  <a:pt x="0" y="6606478"/>
                </a:lnTo>
                <a:lnTo>
                  <a:pt x="0" y="0"/>
                </a:lnTo>
                <a:close/>
              </a:path>
            </a:pathLst>
          </a:custGeom>
          <a:blipFill>
            <a:blip r:embed="rId15"/>
            <a:stretch>
              <a:fillRect l="0" t="0" r="0" b="0"/>
            </a:stretch>
          </a:blipFill>
        </p:spPr>
      </p:sp>
      <p:sp>
        <p:nvSpPr>
          <p:cNvPr name="TextBox 11" id="11"/>
          <p:cNvSpPr txBox="true"/>
          <p:nvPr/>
        </p:nvSpPr>
        <p:spPr>
          <a:xfrm rot="0">
            <a:off x="1205650" y="597777"/>
            <a:ext cx="15225150" cy="942975"/>
          </a:xfrm>
          <a:prstGeom prst="rect">
            <a:avLst/>
          </a:prstGeom>
        </p:spPr>
        <p:txBody>
          <a:bodyPr anchor="t" rtlCol="false" tIns="0" lIns="0" bIns="0" rIns="0">
            <a:spAutoFit/>
          </a:bodyPr>
          <a:lstStyle/>
          <a:p>
            <a:pPr algn="l">
              <a:lnSpc>
                <a:spcPts val="7200"/>
              </a:lnSpc>
            </a:pPr>
            <a:r>
              <a:rPr lang="en-US" sz="6000">
                <a:solidFill>
                  <a:srgbClr val="084B87"/>
                </a:solidFill>
                <a:latin typeface="Arimo"/>
                <a:ea typeface="Arimo"/>
                <a:cs typeface="Arimo"/>
                <a:sym typeface="Arimo"/>
              </a:rPr>
              <a:t>DATA DICTIONARY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5113800" y="-728650"/>
            <a:ext cx="3595818" cy="3338806"/>
          </a:xfrm>
          <a:custGeom>
            <a:avLst/>
            <a:gdLst/>
            <a:ahLst/>
            <a:cxnLst/>
            <a:rect r="r" b="b" t="t" l="l"/>
            <a:pathLst>
              <a:path h="3338806" w="3595818">
                <a:moveTo>
                  <a:pt x="0" y="0"/>
                </a:moveTo>
                <a:lnTo>
                  <a:pt x="3595818" y="0"/>
                </a:lnTo>
                <a:lnTo>
                  <a:pt x="3595818" y="3338806"/>
                </a:lnTo>
                <a:lnTo>
                  <a:pt x="0" y="33388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246336" y="263008"/>
            <a:ext cx="1870888" cy="1601102"/>
          </a:xfrm>
          <a:custGeom>
            <a:avLst/>
            <a:gdLst/>
            <a:ahLst/>
            <a:cxnLst/>
            <a:rect r="r" b="b" t="t" l="l"/>
            <a:pathLst>
              <a:path h="1601102" w="1870888">
                <a:moveTo>
                  <a:pt x="0" y="0"/>
                </a:moveTo>
                <a:lnTo>
                  <a:pt x="1870888" y="0"/>
                </a:lnTo>
                <a:lnTo>
                  <a:pt x="1870888" y="1601102"/>
                </a:lnTo>
                <a:lnTo>
                  <a:pt x="0" y="16011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508632" y="-1525102"/>
            <a:ext cx="6678716" cy="4931559"/>
          </a:xfrm>
          <a:custGeom>
            <a:avLst/>
            <a:gdLst/>
            <a:ahLst/>
            <a:cxnLst/>
            <a:rect r="r" b="b" t="t" l="l"/>
            <a:pathLst>
              <a:path h="4931559" w="6678716">
                <a:moveTo>
                  <a:pt x="0" y="0"/>
                </a:moveTo>
                <a:lnTo>
                  <a:pt x="6678716" y="0"/>
                </a:lnTo>
                <a:lnTo>
                  <a:pt x="6678716" y="4931558"/>
                </a:lnTo>
                <a:lnTo>
                  <a:pt x="0" y="49315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3257513" y="1716183"/>
            <a:ext cx="11559574" cy="8033904"/>
          </a:xfrm>
          <a:custGeom>
            <a:avLst/>
            <a:gdLst/>
            <a:ahLst/>
            <a:cxnLst/>
            <a:rect r="r" b="b" t="t" l="l"/>
            <a:pathLst>
              <a:path h="8033904" w="11559574">
                <a:moveTo>
                  <a:pt x="0" y="0"/>
                </a:moveTo>
                <a:lnTo>
                  <a:pt x="11559574" y="0"/>
                </a:lnTo>
                <a:lnTo>
                  <a:pt x="11559574" y="8033904"/>
                </a:lnTo>
                <a:lnTo>
                  <a:pt x="0" y="8033904"/>
                </a:lnTo>
                <a:lnTo>
                  <a:pt x="0" y="0"/>
                </a:lnTo>
                <a:close/>
              </a:path>
            </a:pathLst>
          </a:custGeom>
          <a:blipFill>
            <a:blip r:embed="rId15"/>
            <a:stretch>
              <a:fillRect l="0" t="0" r="0" b="0"/>
            </a:stretch>
          </a:blipFill>
        </p:spPr>
      </p:sp>
      <p:sp>
        <p:nvSpPr>
          <p:cNvPr name="TextBox 11" id="11"/>
          <p:cNvSpPr txBox="true"/>
          <p:nvPr/>
        </p:nvSpPr>
        <p:spPr>
          <a:xfrm rot="0">
            <a:off x="1205650" y="597777"/>
            <a:ext cx="15225150" cy="942975"/>
          </a:xfrm>
          <a:prstGeom prst="rect">
            <a:avLst/>
          </a:prstGeom>
        </p:spPr>
        <p:txBody>
          <a:bodyPr anchor="t" rtlCol="false" tIns="0" lIns="0" bIns="0" rIns="0">
            <a:spAutoFit/>
          </a:bodyPr>
          <a:lstStyle/>
          <a:p>
            <a:pPr algn="l">
              <a:lnSpc>
                <a:spcPts val="7200"/>
              </a:lnSpc>
            </a:pPr>
            <a:r>
              <a:rPr lang="en-US" sz="6000">
                <a:solidFill>
                  <a:srgbClr val="084B87"/>
                </a:solidFill>
                <a:latin typeface="Arimo"/>
                <a:ea typeface="Arimo"/>
                <a:cs typeface="Arimo"/>
                <a:sym typeface="Arimo"/>
              </a:rPr>
              <a:t>XÂY DỰNG DATA MODEL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454502" y="1783013"/>
            <a:ext cx="11378192" cy="6314896"/>
          </a:xfrm>
          <a:custGeom>
            <a:avLst/>
            <a:gdLst/>
            <a:ahLst/>
            <a:cxnLst/>
            <a:rect r="r" b="b" t="t" l="l"/>
            <a:pathLst>
              <a:path h="6314896" w="11378192">
                <a:moveTo>
                  <a:pt x="0" y="0"/>
                </a:moveTo>
                <a:lnTo>
                  <a:pt x="11378191" y="0"/>
                </a:lnTo>
                <a:lnTo>
                  <a:pt x="11378191" y="6314897"/>
                </a:lnTo>
                <a:lnTo>
                  <a:pt x="0" y="6314897"/>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SỐ LƯỢNG VÁC XIN</a:t>
            </a:r>
          </a:p>
        </p:txBody>
      </p:sp>
      <p:sp>
        <p:nvSpPr>
          <p:cNvPr name="TextBox 9" id="9"/>
          <p:cNvSpPr txBox="true"/>
          <p:nvPr/>
        </p:nvSpPr>
        <p:spPr>
          <a:xfrm rot="0">
            <a:off x="403097" y="1763963"/>
            <a:ext cx="5826469" cy="4418906"/>
          </a:xfrm>
          <a:prstGeom prst="rect">
            <a:avLst/>
          </a:prstGeom>
        </p:spPr>
        <p:txBody>
          <a:bodyPr anchor="t" rtlCol="false" tIns="0" lIns="0" bIns="0" rIns="0">
            <a:spAutoFit/>
          </a:bodyPr>
          <a:lstStyle/>
          <a:p>
            <a:pPr algn="l">
              <a:lnSpc>
                <a:spcPts val="3149"/>
              </a:lnSpc>
            </a:pPr>
            <a:r>
              <a:rPr lang="en-US" sz="2624">
                <a:solidFill>
                  <a:srgbClr val="084B87"/>
                </a:solidFill>
                <a:latin typeface="Arimo"/>
                <a:ea typeface="Arimo"/>
                <a:cs typeface="Arimo"/>
                <a:sym typeface="Arimo"/>
              </a:rPr>
              <a:t>Tổng quan: </a:t>
            </a:r>
          </a:p>
          <a:p>
            <a:pPr algn="l" marL="566648" indent="-283324" lvl="1">
              <a:lnSpc>
                <a:spcPts val="3149"/>
              </a:lnSpc>
              <a:buFont typeface="Arial"/>
              <a:buChar char="•"/>
            </a:pPr>
            <a:r>
              <a:rPr lang="en-US" sz="2624">
                <a:solidFill>
                  <a:srgbClr val="084B87"/>
                </a:solidFill>
                <a:latin typeface="Arimo"/>
                <a:ea typeface="Arimo"/>
                <a:cs typeface="Arimo"/>
                <a:sym typeface="Arimo"/>
              </a:rPr>
              <a:t>Đối tượng: Người lớn từ 50 tuổi trở lên</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Phạm vi: Hà </a:t>
            </a:r>
            <a:r>
              <a:rPr lang="en-US" sz="2624">
                <a:solidFill>
                  <a:srgbClr val="084B87"/>
                </a:solidFill>
                <a:latin typeface="Arimo"/>
                <a:ea typeface="Arimo"/>
                <a:cs typeface="Arimo"/>
                <a:sym typeface="Arimo"/>
              </a:rPr>
              <a:t>Nội &amp; TP.HCM</a:t>
            </a:r>
          </a:p>
          <a:p>
            <a:pPr algn="l">
              <a:lnSpc>
                <a:spcPts val="3149"/>
              </a:lnSpc>
              <a:spcBef>
                <a:spcPct val="0"/>
              </a:spcBef>
            </a:pPr>
            <a:r>
              <a:rPr lang="en-US" sz="2624">
                <a:solidFill>
                  <a:srgbClr val="084B87"/>
                </a:solidFill>
                <a:latin typeface="Arimo"/>
                <a:ea typeface="Arimo"/>
                <a:cs typeface="Arimo"/>
                <a:sym typeface="Arimo"/>
              </a:rPr>
              <a:t>Mục tiêu:</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Theo dõi xu hướng tiêm chủng theo thời gian</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Phân tích cơ cấu các loại vaccine</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T</a:t>
            </a:r>
            <a:r>
              <a:rPr lang="en-US" sz="2624">
                <a:solidFill>
                  <a:srgbClr val="084B87"/>
                </a:solidFill>
                <a:latin typeface="Arimo"/>
                <a:ea typeface="Arimo"/>
                <a:cs typeface="Arimo"/>
                <a:sym typeface="Arimo"/>
              </a:rPr>
              <a:t>ối ưu phân phối &amp; tư vấn tiêm chủng</a:t>
            </a:r>
          </a:p>
          <a:p>
            <a:pPr algn="l">
              <a:lnSpc>
                <a:spcPts val="314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376558" y="1783013"/>
            <a:ext cx="10456136" cy="5782451"/>
          </a:xfrm>
          <a:custGeom>
            <a:avLst/>
            <a:gdLst/>
            <a:ahLst/>
            <a:cxnLst/>
            <a:rect r="r" b="b" t="t" l="l"/>
            <a:pathLst>
              <a:path h="5782451" w="10456136">
                <a:moveTo>
                  <a:pt x="0" y="0"/>
                </a:moveTo>
                <a:lnTo>
                  <a:pt x="10456135" y="0"/>
                </a:lnTo>
                <a:lnTo>
                  <a:pt x="10456135" y="5782451"/>
                </a:lnTo>
                <a:lnTo>
                  <a:pt x="0" y="5782451"/>
                </a:lnTo>
                <a:lnTo>
                  <a:pt x="0" y="0"/>
                </a:lnTo>
                <a:close/>
              </a:path>
            </a:pathLst>
          </a:custGeom>
          <a:blipFill>
            <a:blip r:embed="rId9"/>
            <a:stretch>
              <a:fillRect l="0" t="-179" r="0" b="-179"/>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SỐ LƯỢNG VÁC XIN</a:t>
            </a:r>
          </a:p>
        </p:txBody>
      </p:sp>
      <p:sp>
        <p:nvSpPr>
          <p:cNvPr name="TextBox 9" id="9"/>
          <p:cNvSpPr txBox="true"/>
          <p:nvPr/>
        </p:nvSpPr>
        <p:spPr>
          <a:xfrm rot="0">
            <a:off x="412622" y="1773488"/>
            <a:ext cx="6682025" cy="4362450"/>
          </a:xfrm>
          <a:prstGeom prst="rect">
            <a:avLst/>
          </a:prstGeom>
        </p:spPr>
        <p:txBody>
          <a:bodyPr anchor="t" rtlCol="false" tIns="0" lIns="0" bIns="0" rIns="0">
            <a:spAutoFit/>
          </a:bodyPr>
          <a:lstStyle/>
          <a:p>
            <a:pPr algn="just" marL="523470" indent="-261735" lvl="1">
              <a:lnSpc>
                <a:spcPts val="2909"/>
              </a:lnSpc>
              <a:spcBef>
                <a:spcPct val="0"/>
              </a:spcBef>
              <a:buFont typeface="Arial"/>
              <a:buChar char="•"/>
            </a:pPr>
            <a:r>
              <a:rPr lang="en-US" sz="2424">
                <a:solidFill>
                  <a:srgbClr val="084B87"/>
                </a:solidFill>
                <a:latin typeface="Arimo"/>
                <a:ea typeface="Arimo"/>
                <a:cs typeface="Arimo"/>
                <a:sym typeface="Arimo"/>
              </a:rPr>
              <a:t>Hơn 70% tổng mũi tiêm đến từ Cúm (Influenza) chiếm </a:t>
            </a:r>
            <a:r>
              <a:rPr lang="en-US" sz="2424">
                <a:solidFill>
                  <a:srgbClr val="084B87"/>
                </a:solidFill>
                <a:latin typeface="Arimo"/>
                <a:ea typeface="Arimo"/>
                <a:cs typeface="Arimo"/>
                <a:sym typeface="Arimo"/>
              </a:rPr>
              <a:t>46.67% &amp; Phế</a:t>
            </a:r>
            <a:r>
              <a:rPr lang="en-US" sz="2424">
                <a:solidFill>
                  <a:srgbClr val="084B87"/>
                </a:solidFill>
                <a:latin typeface="Arimo"/>
                <a:ea typeface="Arimo"/>
                <a:cs typeface="Arimo"/>
                <a:sym typeface="Arimo"/>
              </a:rPr>
              <a:t> cầu (Pneumococcal) chiếm 24.17% --&gt; Người già ưu tiên phòng bệnh hô hấp</a:t>
            </a:r>
          </a:p>
          <a:p>
            <a:pPr algn="just" marL="523470" indent="-261735" lvl="1">
              <a:lnSpc>
                <a:spcPts val="2909"/>
              </a:lnSpc>
              <a:spcBef>
                <a:spcPct val="0"/>
              </a:spcBef>
              <a:buFont typeface="Arial"/>
              <a:buChar char="•"/>
            </a:pPr>
            <a:r>
              <a:rPr lang="en-US" sz="2424">
                <a:solidFill>
                  <a:srgbClr val="084B87"/>
                </a:solidFill>
                <a:latin typeface="Arimo"/>
                <a:ea typeface="Arimo"/>
                <a:cs typeface="Arimo"/>
                <a:sym typeface="Arimo"/>
              </a:rPr>
              <a:t>Sốt xuất huyết (Dengue Fever) chiếm 14.17% xếp thứ 3 dù là vaccine mới --&gt; Nhận thức bệnh ở người lớn đang tăng, không còn là bệnh của trẻ em</a:t>
            </a:r>
          </a:p>
          <a:p>
            <a:pPr algn="just" marL="523470" indent="-261735" lvl="1">
              <a:lnSpc>
                <a:spcPts val="2909"/>
              </a:lnSpc>
              <a:spcBef>
                <a:spcPct val="0"/>
              </a:spcBef>
              <a:buFont typeface="Arial"/>
              <a:buChar char="•"/>
            </a:pPr>
            <a:r>
              <a:rPr lang="en-US" sz="2424">
                <a:solidFill>
                  <a:srgbClr val="084B87"/>
                </a:solidFill>
                <a:latin typeface="Arimo"/>
                <a:ea typeface="Arimo"/>
                <a:cs typeface="Arimo"/>
                <a:sym typeface="Arimo"/>
              </a:rPr>
              <a:t>Cơ hội thị trường: Shingles (Zona): 0.42% (1 mũi). Đây là bệnh có guy cơ cao nhưng tỷ lệ tiêm rất thấp</a:t>
            </a:r>
          </a:p>
          <a:p>
            <a:pPr algn="just">
              <a:lnSpc>
                <a:spcPts val="290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126725" y="1783013"/>
            <a:ext cx="10705969" cy="6314896"/>
          </a:xfrm>
          <a:custGeom>
            <a:avLst/>
            <a:gdLst/>
            <a:ahLst/>
            <a:cxnLst/>
            <a:rect r="r" b="b" t="t" l="l"/>
            <a:pathLst>
              <a:path h="6314896" w="10705969">
                <a:moveTo>
                  <a:pt x="0" y="0"/>
                </a:moveTo>
                <a:lnTo>
                  <a:pt x="10705968" y="0"/>
                </a:lnTo>
                <a:lnTo>
                  <a:pt x="10705968" y="6314897"/>
                </a:lnTo>
                <a:lnTo>
                  <a:pt x="0" y="6314897"/>
                </a:lnTo>
                <a:lnTo>
                  <a:pt x="0" y="0"/>
                </a:lnTo>
                <a:close/>
              </a:path>
            </a:pathLst>
          </a:custGeom>
          <a:blipFill>
            <a:blip r:embed="rId9"/>
            <a:stretch>
              <a:fillRect l="-6278"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SỐ LƯỢNG VÁC XIN</a:t>
            </a:r>
          </a:p>
        </p:txBody>
      </p:sp>
      <p:sp>
        <p:nvSpPr>
          <p:cNvPr name="TextBox 9" id="9"/>
          <p:cNvSpPr txBox="true"/>
          <p:nvPr/>
        </p:nvSpPr>
        <p:spPr>
          <a:xfrm rot="0">
            <a:off x="351511" y="1773488"/>
            <a:ext cx="6396840" cy="3143250"/>
          </a:xfrm>
          <a:prstGeom prst="rect">
            <a:avLst/>
          </a:prstGeom>
        </p:spPr>
        <p:txBody>
          <a:bodyPr anchor="t" rtlCol="false" tIns="0" lIns="0" bIns="0" rIns="0">
            <a:spAutoFit/>
          </a:bodyPr>
          <a:lstStyle/>
          <a:p>
            <a:pPr algn="just">
              <a:lnSpc>
                <a:spcPts val="3149"/>
              </a:lnSpc>
            </a:pPr>
            <a:r>
              <a:rPr lang="en-US" sz="2624">
                <a:solidFill>
                  <a:srgbClr val="084B87"/>
                </a:solidFill>
                <a:latin typeface="Arimo"/>
                <a:ea typeface="Arimo"/>
                <a:cs typeface="Arimo"/>
                <a:sym typeface="Arimo"/>
              </a:rPr>
              <a:t>Hành động:</a:t>
            </a:r>
          </a:p>
          <a:p>
            <a:pPr algn="just" marL="566648" indent="-283324" lvl="1">
              <a:lnSpc>
                <a:spcPts val="3149"/>
              </a:lnSpc>
              <a:buFont typeface="Arial"/>
              <a:buChar char="•"/>
            </a:pPr>
            <a:r>
              <a:rPr lang="en-US" sz="2624">
                <a:solidFill>
                  <a:srgbClr val="084B87"/>
                </a:solidFill>
                <a:latin typeface="Arimo"/>
                <a:ea typeface="Arimo"/>
                <a:cs typeface="Arimo"/>
                <a:sym typeface="Arimo"/>
              </a:rPr>
              <a:t>Ưu tiên phân phối vaccin cúm và phế cầu</a:t>
            </a:r>
          </a:p>
          <a:p>
            <a:pPr algn="just" marL="566648" indent="-283324" lvl="1">
              <a:lnSpc>
                <a:spcPts val="3149"/>
              </a:lnSpc>
              <a:spcBef>
                <a:spcPct val="0"/>
              </a:spcBef>
              <a:buFont typeface="Arial"/>
              <a:buChar char="•"/>
            </a:pPr>
            <a:r>
              <a:rPr lang="en-US" sz="2624">
                <a:solidFill>
                  <a:srgbClr val="084B87"/>
                </a:solidFill>
                <a:latin typeface="Arimo"/>
                <a:ea typeface="Arimo"/>
                <a:cs typeface="Arimo"/>
                <a:sym typeface="Arimo"/>
              </a:rPr>
              <a:t>Nâng cao nhận thức tiêm phòng bệnh sốt xuất huyết</a:t>
            </a:r>
          </a:p>
          <a:p>
            <a:pPr algn="just" marL="566648" indent="-283324" lvl="1">
              <a:lnSpc>
                <a:spcPts val="3149"/>
              </a:lnSpc>
              <a:spcBef>
                <a:spcPct val="0"/>
              </a:spcBef>
              <a:buFont typeface="Arial"/>
              <a:buChar char="•"/>
            </a:pPr>
            <a:r>
              <a:rPr lang="en-US" sz="2624">
                <a:solidFill>
                  <a:srgbClr val="084B87"/>
                </a:solidFill>
                <a:latin typeface="Arimo"/>
                <a:ea typeface="Arimo"/>
                <a:cs typeface="Arimo"/>
                <a:sym typeface="Arimo"/>
              </a:rPr>
              <a:t>Đẩy mạnh truyền thông và tư vấn về Zona thần kinh</a:t>
            </a:r>
          </a:p>
          <a:p>
            <a:pPr algn="just">
              <a:lnSpc>
                <a:spcPts val="314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406337" y="1783013"/>
            <a:ext cx="11395260" cy="6253149"/>
          </a:xfrm>
          <a:custGeom>
            <a:avLst/>
            <a:gdLst/>
            <a:ahLst/>
            <a:cxnLst/>
            <a:rect r="r" b="b" t="t" l="l"/>
            <a:pathLst>
              <a:path h="6253149" w="11395260">
                <a:moveTo>
                  <a:pt x="0" y="0"/>
                </a:moveTo>
                <a:lnTo>
                  <a:pt x="11395260" y="0"/>
                </a:lnTo>
                <a:lnTo>
                  <a:pt x="11395260" y="6253149"/>
                </a:lnTo>
                <a:lnTo>
                  <a:pt x="0" y="6253149"/>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TỶ LỆ TIÊM CHỦNG</a:t>
            </a:r>
          </a:p>
        </p:txBody>
      </p:sp>
      <p:sp>
        <p:nvSpPr>
          <p:cNvPr name="TextBox 9" id="9"/>
          <p:cNvSpPr txBox="true"/>
          <p:nvPr/>
        </p:nvSpPr>
        <p:spPr>
          <a:xfrm rot="0">
            <a:off x="403097" y="1763963"/>
            <a:ext cx="5826469" cy="3618932"/>
          </a:xfrm>
          <a:prstGeom prst="rect">
            <a:avLst/>
          </a:prstGeom>
        </p:spPr>
        <p:txBody>
          <a:bodyPr anchor="t" rtlCol="false" tIns="0" lIns="0" bIns="0" rIns="0">
            <a:spAutoFit/>
          </a:bodyPr>
          <a:lstStyle/>
          <a:p>
            <a:pPr algn="l">
              <a:lnSpc>
                <a:spcPts val="3149"/>
              </a:lnSpc>
            </a:pPr>
            <a:r>
              <a:rPr lang="en-US" sz="2624">
                <a:solidFill>
                  <a:srgbClr val="084B87"/>
                </a:solidFill>
                <a:latin typeface="Arimo"/>
                <a:ea typeface="Arimo"/>
                <a:cs typeface="Arimo"/>
                <a:sym typeface="Arimo"/>
              </a:rPr>
              <a:t>Tổng quan: </a:t>
            </a:r>
          </a:p>
          <a:p>
            <a:pPr algn="l" marL="566648" indent="-283324" lvl="1">
              <a:lnSpc>
                <a:spcPts val="3149"/>
              </a:lnSpc>
              <a:buFont typeface="Arial"/>
              <a:buChar char="•"/>
            </a:pPr>
            <a:r>
              <a:rPr lang="en-US" sz="2624">
                <a:solidFill>
                  <a:srgbClr val="084B87"/>
                </a:solidFill>
                <a:latin typeface="Arimo"/>
                <a:ea typeface="Arimo"/>
                <a:cs typeface="Arimo"/>
                <a:sym typeface="Arimo"/>
              </a:rPr>
              <a:t>Đối tượng: Người lớn từ 50 tuổi trở lên</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Phạm vi: Hà </a:t>
            </a:r>
            <a:r>
              <a:rPr lang="en-US" sz="2624">
                <a:solidFill>
                  <a:srgbClr val="084B87"/>
                </a:solidFill>
                <a:latin typeface="Arimo"/>
                <a:ea typeface="Arimo"/>
                <a:cs typeface="Arimo"/>
                <a:sym typeface="Arimo"/>
              </a:rPr>
              <a:t>Nội &amp; TP.HCM</a:t>
            </a:r>
          </a:p>
          <a:p>
            <a:pPr algn="l">
              <a:lnSpc>
                <a:spcPts val="3149"/>
              </a:lnSpc>
              <a:spcBef>
                <a:spcPct val="0"/>
              </a:spcBef>
            </a:pPr>
            <a:r>
              <a:rPr lang="en-US" sz="2624">
                <a:solidFill>
                  <a:srgbClr val="084B87"/>
                </a:solidFill>
                <a:latin typeface="Arimo"/>
                <a:ea typeface="Arimo"/>
                <a:cs typeface="Arimo"/>
                <a:sym typeface="Arimo"/>
              </a:rPr>
              <a:t>Mục tiêu:</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Định vị thị phần</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Đánh g</a:t>
            </a:r>
            <a:r>
              <a:rPr lang="en-US" sz="2624">
                <a:solidFill>
                  <a:srgbClr val="084B87"/>
                </a:solidFill>
                <a:latin typeface="Arimo"/>
                <a:ea typeface="Arimo"/>
                <a:cs typeface="Arimo"/>
                <a:sym typeface="Arimo"/>
              </a:rPr>
              <a:t>iá sức mạnh thương hiệu</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Giám sát danh mục trọng điểm</a:t>
            </a:r>
          </a:p>
          <a:p>
            <a:pPr algn="l">
              <a:lnSpc>
                <a:spcPts val="314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155781" y="1783013"/>
            <a:ext cx="10625445" cy="6253149"/>
          </a:xfrm>
          <a:custGeom>
            <a:avLst/>
            <a:gdLst/>
            <a:ahLst/>
            <a:cxnLst/>
            <a:rect r="r" b="b" t="t" l="l"/>
            <a:pathLst>
              <a:path h="6253149" w="10625445">
                <a:moveTo>
                  <a:pt x="0" y="0"/>
                </a:moveTo>
                <a:lnTo>
                  <a:pt x="10625445" y="0"/>
                </a:lnTo>
                <a:lnTo>
                  <a:pt x="10625445" y="6253149"/>
                </a:lnTo>
                <a:lnTo>
                  <a:pt x="0" y="6253149"/>
                </a:lnTo>
                <a:lnTo>
                  <a:pt x="0" y="0"/>
                </a:lnTo>
                <a:close/>
              </a:path>
            </a:pathLst>
          </a:custGeom>
          <a:blipFill>
            <a:blip r:embed="rId9"/>
            <a:stretch>
              <a:fillRect l="-7245"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TỶ LỆ TIÊM CHỦNG</a:t>
            </a:r>
          </a:p>
        </p:txBody>
      </p:sp>
      <p:sp>
        <p:nvSpPr>
          <p:cNvPr name="TextBox 9" id="9"/>
          <p:cNvSpPr txBox="true"/>
          <p:nvPr/>
        </p:nvSpPr>
        <p:spPr>
          <a:xfrm rot="0">
            <a:off x="403097" y="1763963"/>
            <a:ext cx="6494992" cy="4724400"/>
          </a:xfrm>
          <a:prstGeom prst="rect">
            <a:avLst/>
          </a:prstGeom>
        </p:spPr>
        <p:txBody>
          <a:bodyPr anchor="t" rtlCol="false" tIns="0" lIns="0" bIns="0" rIns="0">
            <a:spAutoFit/>
          </a:bodyPr>
          <a:lstStyle/>
          <a:p>
            <a:pPr algn="l" marL="523470" indent="-261735" lvl="1">
              <a:lnSpc>
                <a:spcPts val="2909"/>
              </a:lnSpc>
              <a:buFont typeface="Arial"/>
              <a:buChar char="•"/>
            </a:pPr>
            <a:r>
              <a:rPr lang="en-US" sz="2424">
                <a:solidFill>
                  <a:srgbClr val="084B87"/>
                </a:solidFill>
                <a:latin typeface="Arimo"/>
                <a:ea typeface="Arimo"/>
                <a:cs typeface="Arimo"/>
                <a:sym typeface="Arimo"/>
              </a:rPr>
              <a:t>Abbott dẫn đầu 45,42% nhờ vaccin Cúm đồng thời chiếm 97,32% số lượt tiêm vaccin cúm (Influenza)</a:t>
            </a:r>
          </a:p>
          <a:p>
            <a:pPr algn="l" marL="523470" indent="-261735" lvl="1">
              <a:lnSpc>
                <a:spcPts val="2909"/>
              </a:lnSpc>
              <a:buFont typeface="Arial"/>
              <a:buChar char="•"/>
            </a:pPr>
            <a:r>
              <a:rPr lang="en-US" sz="2424">
                <a:solidFill>
                  <a:srgbClr val="084B87"/>
                </a:solidFill>
                <a:latin typeface="Arimo"/>
                <a:ea typeface="Arimo"/>
                <a:cs typeface="Arimo"/>
                <a:sym typeface="Arimo"/>
              </a:rPr>
              <a:t>GSK chiếm thị trường ngách tuyệt đối: 81,82% ở nhờ Vaccin Zona thần kinh (Shingles) và thuỷ đậu (Chickenpox)</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Pfizer và MSD cạnh tranh nhau về vaccin phế cầu khuẩn (Pneumococcal).</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MSD chiếm hết thị phần vaccin thuỷ đậu (Chickenpox)</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Takeda nổi lên: 14.17% nhờ nắm hết thị phần vaccin sốt xuất huyết (Dengue Fever)</a:t>
            </a:r>
          </a:p>
          <a:p>
            <a:pPr algn="l">
              <a:lnSpc>
                <a:spcPts val="290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385967" y="1783013"/>
            <a:ext cx="11395260" cy="6253149"/>
          </a:xfrm>
          <a:custGeom>
            <a:avLst/>
            <a:gdLst/>
            <a:ahLst/>
            <a:cxnLst/>
            <a:rect r="r" b="b" t="t" l="l"/>
            <a:pathLst>
              <a:path h="6253149" w="11395260">
                <a:moveTo>
                  <a:pt x="0" y="0"/>
                </a:moveTo>
                <a:lnTo>
                  <a:pt x="11395259" y="0"/>
                </a:lnTo>
                <a:lnTo>
                  <a:pt x="11395259" y="6253149"/>
                </a:lnTo>
                <a:lnTo>
                  <a:pt x="0" y="6253149"/>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TỶ LỆ TIÊM CHỦNG</a:t>
            </a:r>
          </a:p>
        </p:txBody>
      </p:sp>
      <p:sp>
        <p:nvSpPr>
          <p:cNvPr name="TextBox 9" id="9"/>
          <p:cNvSpPr txBox="true"/>
          <p:nvPr/>
        </p:nvSpPr>
        <p:spPr>
          <a:xfrm rot="0">
            <a:off x="403097" y="1763963"/>
            <a:ext cx="5826469" cy="3448050"/>
          </a:xfrm>
          <a:prstGeom prst="rect">
            <a:avLst/>
          </a:prstGeom>
        </p:spPr>
        <p:txBody>
          <a:bodyPr anchor="t" rtlCol="false" tIns="0" lIns="0" bIns="0" rIns="0">
            <a:spAutoFit/>
          </a:bodyPr>
          <a:lstStyle/>
          <a:p>
            <a:pPr algn="l">
              <a:lnSpc>
                <a:spcPts val="3029"/>
              </a:lnSpc>
            </a:pPr>
            <a:r>
              <a:rPr lang="en-US" sz="2524">
                <a:solidFill>
                  <a:srgbClr val="084B87"/>
                </a:solidFill>
                <a:latin typeface="Arimo"/>
                <a:ea typeface="Arimo"/>
                <a:cs typeface="Arimo"/>
                <a:sym typeface="Arimo"/>
              </a:rPr>
              <a:t>Hành động:</a:t>
            </a:r>
          </a:p>
          <a:p>
            <a:pPr algn="l" marL="545059" indent="-272529" lvl="1">
              <a:lnSpc>
                <a:spcPts val="3029"/>
              </a:lnSpc>
              <a:buFont typeface="Arial"/>
              <a:buChar char="•"/>
            </a:pPr>
            <a:r>
              <a:rPr lang="en-US" sz="2524">
                <a:solidFill>
                  <a:srgbClr val="084B87"/>
                </a:solidFill>
                <a:latin typeface="Arimo"/>
                <a:ea typeface="Arimo"/>
                <a:cs typeface="Arimo"/>
                <a:sym typeface="Arimo"/>
              </a:rPr>
              <a:t>Đẩy mạnh vắc xin Zona thần kinh - thị trường ngách của GSK</a:t>
            </a:r>
          </a:p>
          <a:p>
            <a:pPr algn="l" marL="545059" indent="-272529" lvl="1">
              <a:lnSpc>
                <a:spcPts val="3029"/>
              </a:lnSpc>
              <a:buFont typeface="Arial"/>
              <a:buChar char="•"/>
            </a:pPr>
            <a:r>
              <a:rPr lang="en-US" sz="2524">
                <a:solidFill>
                  <a:srgbClr val="084B87"/>
                </a:solidFill>
                <a:latin typeface="Arimo"/>
                <a:ea typeface="Arimo"/>
                <a:cs typeface="Arimo"/>
                <a:sym typeface="Arimo"/>
              </a:rPr>
              <a:t>Tập trung nguồn lực vào vắc xin Phế cầu</a:t>
            </a:r>
          </a:p>
          <a:p>
            <a:pPr algn="l" marL="545059" indent="-272529" lvl="1">
              <a:lnSpc>
                <a:spcPts val="3029"/>
              </a:lnSpc>
              <a:buFont typeface="Arial"/>
              <a:buChar char="•"/>
            </a:pPr>
            <a:r>
              <a:rPr lang="en-US" sz="2524">
                <a:solidFill>
                  <a:srgbClr val="084B87"/>
                </a:solidFill>
                <a:latin typeface="Arimo"/>
                <a:ea typeface="Arimo"/>
                <a:cs typeface="Arimo"/>
                <a:sym typeface="Arimo"/>
              </a:rPr>
              <a:t>Đẩy mạnh vaccin cúm của Abbot</a:t>
            </a:r>
          </a:p>
          <a:p>
            <a:pPr algn="l" marL="545059" indent="-272529" lvl="1">
              <a:lnSpc>
                <a:spcPts val="3029"/>
              </a:lnSpc>
              <a:buFont typeface="Arial"/>
              <a:buChar char="•"/>
            </a:pPr>
            <a:r>
              <a:rPr lang="en-US" sz="2524">
                <a:solidFill>
                  <a:srgbClr val="084B87"/>
                </a:solidFill>
                <a:latin typeface="Arimo"/>
                <a:ea typeface="Arimo"/>
                <a:cs typeface="Arimo"/>
                <a:sym typeface="Arimo"/>
              </a:rPr>
              <a:t>Theo dõi </a:t>
            </a:r>
            <a:r>
              <a:rPr lang="en-US" sz="2524">
                <a:solidFill>
                  <a:srgbClr val="084B87"/>
                </a:solidFill>
                <a:latin typeface="Arimo"/>
                <a:ea typeface="Arimo"/>
                <a:cs typeface="Arimo"/>
                <a:sym typeface="Arimo"/>
              </a:rPr>
              <a:t>vắc xin Sốt xuất huyết Takeda</a:t>
            </a:r>
          </a:p>
          <a:p>
            <a:pPr algn="l">
              <a:lnSpc>
                <a:spcPts val="302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421295" y="1763963"/>
            <a:ext cx="11515375" cy="6304668"/>
          </a:xfrm>
          <a:custGeom>
            <a:avLst/>
            <a:gdLst/>
            <a:ahLst/>
            <a:cxnLst/>
            <a:rect r="r" b="b" t="t" l="l"/>
            <a:pathLst>
              <a:path h="6304668" w="11515375">
                <a:moveTo>
                  <a:pt x="0" y="0"/>
                </a:moveTo>
                <a:lnTo>
                  <a:pt x="11515375" y="0"/>
                </a:lnTo>
                <a:lnTo>
                  <a:pt x="11515375" y="6304668"/>
                </a:lnTo>
                <a:lnTo>
                  <a:pt x="0" y="6304668"/>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Tỉ LỆ TIÊM CHỦNG</a:t>
            </a:r>
          </a:p>
        </p:txBody>
      </p:sp>
      <p:sp>
        <p:nvSpPr>
          <p:cNvPr name="TextBox 9" id="9"/>
          <p:cNvSpPr txBox="true"/>
          <p:nvPr/>
        </p:nvSpPr>
        <p:spPr>
          <a:xfrm rot="0">
            <a:off x="403097" y="1763963"/>
            <a:ext cx="5826469" cy="4418906"/>
          </a:xfrm>
          <a:prstGeom prst="rect">
            <a:avLst/>
          </a:prstGeom>
        </p:spPr>
        <p:txBody>
          <a:bodyPr anchor="t" rtlCol="false" tIns="0" lIns="0" bIns="0" rIns="0">
            <a:spAutoFit/>
          </a:bodyPr>
          <a:lstStyle/>
          <a:p>
            <a:pPr algn="l">
              <a:lnSpc>
                <a:spcPts val="3149"/>
              </a:lnSpc>
            </a:pPr>
            <a:r>
              <a:rPr lang="en-US" sz="2624">
                <a:solidFill>
                  <a:srgbClr val="084B87"/>
                </a:solidFill>
                <a:latin typeface="Arimo"/>
                <a:ea typeface="Arimo"/>
                <a:cs typeface="Arimo"/>
                <a:sym typeface="Arimo"/>
              </a:rPr>
              <a:t>Tổng quan: </a:t>
            </a:r>
          </a:p>
          <a:p>
            <a:pPr algn="l" marL="566648" indent="-283324" lvl="1">
              <a:lnSpc>
                <a:spcPts val="3149"/>
              </a:lnSpc>
              <a:buFont typeface="Arial"/>
              <a:buChar char="•"/>
            </a:pPr>
            <a:r>
              <a:rPr lang="en-US" sz="2624">
                <a:solidFill>
                  <a:srgbClr val="084B87"/>
                </a:solidFill>
                <a:latin typeface="Arimo"/>
                <a:ea typeface="Arimo"/>
                <a:cs typeface="Arimo"/>
                <a:sym typeface="Arimo"/>
              </a:rPr>
              <a:t>Đối tượng: Người lớn từ 50 tuổi trở lên</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Phạm vi: Hà </a:t>
            </a:r>
            <a:r>
              <a:rPr lang="en-US" sz="2624">
                <a:solidFill>
                  <a:srgbClr val="084B87"/>
                </a:solidFill>
                <a:latin typeface="Arimo"/>
                <a:ea typeface="Arimo"/>
                <a:cs typeface="Arimo"/>
                <a:sym typeface="Arimo"/>
              </a:rPr>
              <a:t>Nội &amp; TP.HCM</a:t>
            </a:r>
          </a:p>
          <a:p>
            <a:pPr algn="l">
              <a:lnSpc>
                <a:spcPts val="3149"/>
              </a:lnSpc>
              <a:spcBef>
                <a:spcPct val="0"/>
              </a:spcBef>
            </a:pPr>
            <a:r>
              <a:rPr lang="en-US" sz="2624">
                <a:solidFill>
                  <a:srgbClr val="084B87"/>
                </a:solidFill>
                <a:latin typeface="Arimo"/>
                <a:ea typeface="Arimo"/>
                <a:cs typeface="Arimo"/>
                <a:sym typeface="Arimo"/>
              </a:rPr>
              <a:t>Mục tiêu:</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Theo dõi tỉ lệ tiêm giữa dự định và thực tế</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Xác định các yếu tố chính thúc đẩy người trên 50 tuổi quyết định đi tiêm chủng</a:t>
            </a:r>
          </a:p>
          <a:p>
            <a:pPr algn="l">
              <a:lnSpc>
                <a:spcPts val="314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949836" y="1763963"/>
            <a:ext cx="10986834" cy="5916778"/>
          </a:xfrm>
          <a:custGeom>
            <a:avLst/>
            <a:gdLst/>
            <a:ahLst/>
            <a:cxnLst/>
            <a:rect r="r" b="b" t="t" l="l"/>
            <a:pathLst>
              <a:path h="5916778" w="10986834">
                <a:moveTo>
                  <a:pt x="0" y="0"/>
                </a:moveTo>
                <a:lnTo>
                  <a:pt x="10986834" y="0"/>
                </a:lnTo>
                <a:lnTo>
                  <a:pt x="10986834" y="5916778"/>
                </a:lnTo>
                <a:lnTo>
                  <a:pt x="0" y="5916778"/>
                </a:lnTo>
                <a:lnTo>
                  <a:pt x="0" y="0"/>
                </a:lnTo>
                <a:close/>
              </a:path>
            </a:pathLst>
          </a:custGeom>
          <a:blipFill>
            <a:blip r:embed="rId9"/>
            <a:stretch>
              <a:fillRect l="0" t="-832" r="0" b="-832"/>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Tỉ LỆ TIÊM CHỦNG</a:t>
            </a:r>
          </a:p>
        </p:txBody>
      </p:sp>
      <p:sp>
        <p:nvSpPr>
          <p:cNvPr name="TextBox 9" id="9"/>
          <p:cNvSpPr txBox="true"/>
          <p:nvPr/>
        </p:nvSpPr>
        <p:spPr>
          <a:xfrm rot="0">
            <a:off x="403097" y="1763963"/>
            <a:ext cx="6259229" cy="4724400"/>
          </a:xfrm>
          <a:prstGeom prst="rect">
            <a:avLst/>
          </a:prstGeom>
        </p:spPr>
        <p:txBody>
          <a:bodyPr anchor="t" rtlCol="false" tIns="0" lIns="0" bIns="0" rIns="0">
            <a:spAutoFit/>
          </a:bodyPr>
          <a:lstStyle/>
          <a:p>
            <a:pPr algn="l">
              <a:lnSpc>
                <a:spcPts val="2909"/>
              </a:lnSpc>
            </a:pPr>
            <a:r>
              <a:rPr lang="en-US" sz="2424">
                <a:solidFill>
                  <a:srgbClr val="084B87"/>
                </a:solidFill>
                <a:latin typeface="Arimo"/>
                <a:ea typeface="Arimo"/>
                <a:cs typeface="Arimo"/>
                <a:sym typeface="Arimo"/>
              </a:rPr>
              <a:t>Tỷ lệ chốt gần như tuyệt đối ở:</a:t>
            </a:r>
          </a:p>
          <a:p>
            <a:pPr algn="l" marL="523470" indent="-261735" lvl="1">
              <a:lnSpc>
                <a:spcPts val="2909"/>
              </a:lnSpc>
              <a:buFont typeface="Arial"/>
              <a:buChar char="•"/>
            </a:pPr>
            <a:r>
              <a:rPr lang="en-US" sz="2424">
                <a:solidFill>
                  <a:srgbClr val="084B87"/>
                </a:solidFill>
                <a:latin typeface="Arimo"/>
                <a:ea typeface="Arimo"/>
                <a:cs typeface="Arimo"/>
                <a:sym typeface="Arimo"/>
              </a:rPr>
              <a:t>Cúm (Influenza)</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Phế</a:t>
            </a:r>
            <a:r>
              <a:rPr lang="en-US" sz="2424">
                <a:solidFill>
                  <a:srgbClr val="084B87"/>
                </a:solidFill>
                <a:latin typeface="Arimo"/>
                <a:ea typeface="Arimo"/>
                <a:cs typeface="Arimo"/>
                <a:sym typeface="Arimo"/>
              </a:rPr>
              <a:t> cầu (Pneumococcal)</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Sốt xuất huyết (Dengue Fever)</a:t>
            </a:r>
          </a:p>
          <a:p>
            <a:pPr algn="l">
              <a:lnSpc>
                <a:spcPts val="2909"/>
              </a:lnSpc>
              <a:spcBef>
                <a:spcPct val="0"/>
              </a:spcBef>
            </a:pPr>
            <a:r>
              <a:rPr lang="en-US" sz="2424">
                <a:solidFill>
                  <a:srgbClr val="084B87"/>
                </a:solidFill>
                <a:latin typeface="Arimo"/>
                <a:ea typeface="Arimo"/>
                <a:cs typeface="Arimo"/>
                <a:sym typeface="Arimo"/>
              </a:rPr>
              <a:t>⟶ </a:t>
            </a:r>
            <a:r>
              <a:rPr lang="en-US" sz="2424">
                <a:solidFill>
                  <a:srgbClr val="084B87"/>
                </a:solidFill>
                <a:latin typeface="Arimo"/>
                <a:ea typeface="Arimo"/>
                <a:cs typeface="Arimo"/>
                <a:sym typeface="Arimo"/>
              </a:rPr>
              <a:t>Khách hàng đã tìm hiểu trước khi đến tiêm</a:t>
            </a:r>
          </a:p>
          <a:p>
            <a:pPr algn="l">
              <a:lnSpc>
                <a:spcPts val="2909"/>
              </a:lnSpc>
              <a:spcBef>
                <a:spcPct val="0"/>
              </a:spcBef>
            </a:pPr>
            <a:r>
              <a:rPr lang="en-US" sz="2424">
                <a:solidFill>
                  <a:srgbClr val="084B87"/>
                </a:solidFill>
                <a:latin typeface="Arimo"/>
                <a:ea typeface="Arimo"/>
                <a:cs typeface="Arimo"/>
                <a:sym typeface="Arimo"/>
              </a:rPr>
              <a:t>Động lực chính khi đi tiêm:</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Lo sợ mắc bệnh &amp; biến chứng (~80%)</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Người thân giới thiệu (75%)</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Vai trò thấp của Digital &amp; chuyên gia:</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Bác sĩ (~38%), Website/MXH (3–7%)</a:t>
            </a:r>
          </a:p>
          <a:p>
            <a:pPr algn="l">
              <a:lnSpc>
                <a:spcPts val="2909"/>
              </a:lnSpc>
              <a:spcBef>
                <a:spcPct val="0"/>
              </a:spcBef>
            </a:pPr>
            <a:r>
              <a:rPr lang="en-US" sz="2424">
                <a:solidFill>
                  <a:srgbClr val="084B87"/>
                </a:solidFill>
                <a:latin typeface="Arimo"/>
                <a:ea typeface="Arimo"/>
                <a:cs typeface="Arimo"/>
                <a:sym typeface="Arimo"/>
              </a:rPr>
              <a:t>⟶ Nhóm 50+ quyết định dựa vào niềm tin cá nhân &amp; truyền miệng</a:t>
            </a:r>
          </a:p>
          <a:p>
            <a:pPr algn="l">
              <a:lnSpc>
                <a:spcPts val="290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949836" y="1817227"/>
            <a:ext cx="10986834" cy="5916778"/>
          </a:xfrm>
          <a:custGeom>
            <a:avLst/>
            <a:gdLst/>
            <a:ahLst/>
            <a:cxnLst/>
            <a:rect r="r" b="b" t="t" l="l"/>
            <a:pathLst>
              <a:path h="5916778" w="10986834">
                <a:moveTo>
                  <a:pt x="0" y="0"/>
                </a:moveTo>
                <a:lnTo>
                  <a:pt x="10986834" y="0"/>
                </a:lnTo>
                <a:lnTo>
                  <a:pt x="10986834" y="5916778"/>
                </a:lnTo>
                <a:lnTo>
                  <a:pt x="0" y="5916778"/>
                </a:lnTo>
                <a:lnTo>
                  <a:pt x="0" y="0"/>
                </a:lnTo>
                <a:close/>
              </a:path>
            </a:pathLst>
          </a:custGeom>
          <a:blipFill>
            <a:blip r:embed="rId9"/>
            <a:stretch>
              <a:fillRect l="0" t="-832" r="0" b="-832"/>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Tỉ LỆ TIÊM CHỦNG</a:t>
            </a:r>
          </a:p>
        </p:txBody>
      </p:sp>
      <p:sp>
        <p:nvSpPr>
          <p:cNvPr name="TextBox 9" id="9"/>
          <p:cNvSpPr txBox="true"/>
          <p:nvPr/>
        </p:nvSpPr>
        <p:spPr>
          <a:xfrm rot="0">
            <a:off x="403097" y="1798177"/>
            <a:ext cx="6259229" cy="2914650"/>
          </a:xfrm>
          <a:prstGeom prst="rect">
            <a:avLst/>
          </a:prstGeom>
        </p:spPr>
        <p:txBody>
          <a:bodyPr anchor="t" rtlCol="false" tIns="0" lIns="0" bIns="0" rIns="0">
            <a:spAutoFit/>
          </a:bodyPr>
          <a:lstStyle/>
          <a:p>
            <a:pPr algn="l">
              <a:lnSpc>
                <a:spcPts val="2909"/>
              </a:lnSpc>
            </a:pPr>
            <a:r>
              <a:rPr lang="en-US" sz="2424">
                <a:solidFill>
                  <a:srgbClr val="084B87"/>
                </a:solidFill>
                <a:latin typeface="Arimo"/>
                <a:ea typeface="Arimo"/>
                <a:cs typeface="Arimo"/>
                <a:sym typeface="Arimo"/>
              </a:rPr>
              <a:t>Hành động:</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Đẩy mạnh giới t</a:t>
            </a:r>
            <a:r>
              <a:rPr lang="en-US" sz="2424">
                <a:solidFill>
                  <a:srgbClr val="084B87"/>
                </a:solidFill>
                <a:latin typeface="Arimo"/>
                <a:ea typeface="Arimo"/>
                <a:cs typeface="Arimo"/>
                <a:sym typeface="Arimo"/>
              </a:rPr>
              <a:t>hiệ</a:t>
            </a:r>
            <a:r>
              <a:rPr lang="en-US" sz="2424">
                <a:solidFill>
                  <a:srgbClr val="084B87"/>
                </a:solidFill>
                <a:latin typeface="Arimo"/>
                <a:ea typeface="Arimo"/>
                <a:cs typeface="Arimo"/>
                <a:sym typeface="Arimo"/>
              </a:rPr>
              <a:t>u: </a:t>
            </a:r>
            <a:r>
              <a:rPr lang="en-US" sz="2424">
                <a:solidFill>
                  <a:srgbClr val="084B87"/>
                </a:solidFill>
                <a:latin typeface="Arimo"/>
                <a:ea typeface="Arimo"/>
                <a:cs typeface="Arimo"/>
                <a:sym typeface="Arimo"/>
              </a:rPr>
              <a:t>Gói</a:t>
            </a:r>
            <a:r>
              <a:rPr lang="en-US" sz="2424">
                <a:solidFill>
                  <a:srgbClr val="084B87"/>
                </a:solidFill>
                <a:latin typeface="Arimo"/>
                <a:ea typeface="Arimo"/>
                <a:cs typeface="Arimo"/>
                <a:sym typeface="Arimo"/>
              </a:rPr>
              <a:t> tiêm cùng</a:t>
            </a:r>
            <a:r>
              <a:rPr lang="en-US" sz="2424">
                <a:solidFill>
                  <a:srgbClr val="084B87"/>
                </a:solidFill>
                <a:latin typeface="Arimo"/>
                <a:ea typeface="Arimo"/>
                <a:cs typeface="Arimo"/>
                <a:sym typeface="Arimo"/>
              </a:rPr>
              <a:t> </a:t>
            </a:r>
            <a:r>
              <a:rPr lang="en-US" sz="2424">
                <a:solidFill>
                  <a:srgbClr val="084B87"/>
                </a:solidFill>
                <a:latin typeface="Arimo"/>
                <a:ea typeface="Arimo"/>
                <a:cs typeface="Arimo"/>
                <a:sym typeface="Arimo"/>
              </a:rPr>
              <a:t>người thân, gói tiêm gia đình</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Đẩy mạnh hoạt động k</a:t>
            </a:r>
            <a:r>
              <a:rPr lang="en-US" sz="2424">
                <a:solidFill>
                  <a:srgbClr val="084B87"/>
                </a:solidFill>
                <a:latin typeface="Arimo"/>
                <a:ea typeface="Arimo"/>
                <a:cs typeface="Arimo"/>
                <a:sym typeface="Arimo"/>
              </a:rPr>
              <a:t>é</a:t>
            </a:r>
            <a:r>
              <a:rPr lang="en-US" sz="2424">
                <a:solidFill>
                  <a:srgbClr val="084B87"/>
                </a:solidFill>
                <a:latin typeface="Arimo"/>
                <a:ea typeface="Arimo"/>
                <a:cs typeface="Arimo"/>
                <a:sym typeface="Arimo"/>
              </a:rPr>
              <a:t>o khách đến trung tâm là khả năng chốt cao</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Nhấn mạnh nguy cơ &amp; biến chứng bệnh hơn là tính năng vắc xin</a:t>
            </a:r>
          </a:p>
          <a:p>
            <a:pPr algn="l">
              <a:lnSpc>
                <a:spcPts val="290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269260" y="1783013"/>
            <a:ext cx="11806482" cy="6611630"/>
          </a:xfrm>
          <a:custGeom>
            <a:avLst/>
            <a:gdLst/>
            <a:ahLst/>
            <a:cxnLst/>
            <a:rect r="r" b="b" t="t" l="l"/>
            <a:pathLst>
              <a:path h="6611630" w="11806482">
                <a:moveTo>
                  <a:pt x="0" y="0"/>
                </a:moveTo>
                <a:lnTo>
                  <a:pt x="11806482" y="0"/>
                </a:lnTo>
                <a:lnTo>
                  <a:pt x="11806482" y="6611630"/>
                </a:lnTo>
                <a:lnTo>
                  <a:pt x="0" y="6611630"/>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Ý ĐỊNH TIÊM ZONA CỦA NHÓM 50+</a:t>
            </a:r>
          </a:p>
        </p:txBody>
      </p:sp>
      <p:sp>
        <p:nvSpPr>
          <p:cNvPr name="TextBox 9" id="9"/>
          <p:cNvSpPr txBox="true"/>
          <p:nvPr/>
        </p:nvSpPr>
        <p:spPr>
          <a:xfrm rot="0">
            <a:off x="403097" y="1763963"/>
            <a:ext cx="5826469" cy="4818893"/>
          </a:xfrm>
          <a:prstGeom prst="rect">
            <a:avLst/>
          </a:prstGeom>
        </p:spPr>
        <p:txBody>
          <a:bodyPr anchor="t" rtlCol="false" tIns="0" lIns="0" bIns="0" rIns="0">
            <a:spAutoFit/>
          </a:bodyPr>
          <a:lstStyle/>
          <a:p>
            <a:pPr algn="l">
              <a:lnSpc>
                <a:spcPts val="3149"/>
              </a:lnSpc>
            </a:pPr>
            <a:r>
              <a:rPr lang="en-US" sz="2624">
                <a:solidFill>
                  <a:srgbClr val="084B87"/>
                </a:solidFill>
                <a:latin typeface="Arimo"/>
                <a:ea typeface="Arimo"/>
                <a:cs typeface="Arimo"/>
                <a:sym typeface="Arimo"/>
              </a:rPr>
              <a:t>Tổng quan: </a:t>
            </a:r>
          </a:p>
          <a:p>
            <a:pPr algn="l" marL="566648" indent="-283324" lvl="1">
              <a:lnSpc>
                <a:spcPts val="3149"/>
              </a:lnSpc>
              <a:buFont typeface="Arial"/>
              <a:buChar char="•"/>
            </a:pPr>
            <a:r>
              <a:rPr lang="en-US" sz="2624">
                <a:solidFill>
                  <a:srgbClr val="084B87"/>
                </a:solidFill>
                <a:latin typeface="Arimo"/>
                <a:ea typeface="Arimo"/>
                <a:cs typeface="Arimo"/>
                <a:sym typeface="Arimo"/>
              </a:rPr>
              <a:t>Đối tượng: Người lớn từ 50 tuổi trở lên</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Phạm vi: Hà </a:t>
            </a:r>
            <a:r>
              <a:rPr lang="en-US" sz="2624">
                <a:solidFill>
                  <a:srgbClr val="084B87"/>
                </a:solidFill>
                <a:latin typeface="Arimo"/>
                <a:ea typeface="Arimo"/>
                <a:cs typeface="Arimo"/>
                <a:sym typeface="Arimo"/>
              </a:rPr>
              <a:t>Nội &amp; TP.HCM</a:t>
            </a:r>
          </a:p>
          <a:p>
            <a:pPr algn="l">
              <a:lnSpc>
                <a:spcPts val="3149"/>
              </a:lnSpc>
              <a:spcBef>
                <a:spcPct val="0"/>
              </a:spcBef>
            </a:pPr>
            <a:r>
              <a:rPr lang="en-US" sz="2624">
                <a:solidFill>
                  <a:srgbClr val="084B87"/>
                </a:solidFill>
                <a:latin typeface="Arimo"/>
                <a:ea typeface="Arimo"/>
                <a:cs typeface="Arimo"/>
                <a:sym typeface="Arimo"/>
              </a:rPr>
              <a:t>Mục tiêu:</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Đo lường mức độ ảnh hưởng của bác sĩ trong việc thúc đẩy quyết định tiêm chủng vaccin Zona</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Phân tí</a:t>
            </a:r>
            <a:r>
              <a:rPr lang="en-US" sz="2624">
                <a:solidFill>
                  <a:srgbClr val="084B87"/>
                </a:solidFill>
                <a:latin typeface="Arimo"/>
                <a:ea typeface="Arimo"/>
                <a:cs typeface="Arimo"/>
                <a:sym typeface="Arimo"/>
              </a:rPr>
              <a:t>ch các </a:t>
            </a:r>
            <a:r>
              <a:rPr lang="en-US" sz="2624">
                <a:solidFill>
                  <a:srgbClr val="084B87"/>
                </a:solidFill>
                <a:latin typeface="Arimo"/>
                <a:ea typeface="Arimo"/>
                <a:cs typeface="Arimo"/>
                <a:sym typeface="Arimo"/>
              </a:rPr>
              <a:t>đặc</a:t>
            </a:r>
            <a:r>
              <a:rPr lang="en-US" sz="2624">
                <a:solidFill>
                  <a:srgbClr val="084B87"/>
                </a:solidFill>
                <a:latin typeface="Arimo"/>
                <a:ea typeface="Arimo"/>
                <a:cs typeface="Arimo"/>
                <a:sym typeface="Arimo"/>
              </a:rPr>
              <a:t> </a:t>
            </a:r>
            <a:r>
              <a:rPr lang="en-US" sz="2624">
                <a:solidFill>
                  <a:srgbClr val="084B87"/>
                </a:solidFill>
                <a:latin typeface="Arimo"/>
                <a:ea typeface="Arimo"/>
                <a:cs typeface="Arimo"/>
                <a:sym typeface="Arimo"/>
              </a:rPr>
              <a:t>điểm</a:t>
            </a:r>
            <a:r>
              <a:rPr lang="en-US" sz="2624">
                <a:solidFill>
                  <a:srgbClr val="084B87"/>
                </a:solidFill>
                <a:latin typeface="Arimo"/>
                <a:ea typeface="Arimo"/>
                <a:cs typeface="Arimo"/>
                <a:sym typeface="Arimo"/>
              </a:rPr>
              <a:t> </a:t>
            </a:r>
            <a:r>
              <a:rPr lang="en-US" sz="2624">
                <a:solidFill>
                  <a:srgbClr val="084B87"/>
                </a:solidFill>
                <a:latin typeface="Arimo"/>
                <a:ea typeface="Arimo"/>
                <a:cs typeface="Arimo"/>
                <a:sym typeface="Arimo"/>
              </a:rPr>
              <a:t>về tì</a:t>
            </a:r>
            <a:r>
              <a:rPr lang="en-US" sz="2624">
                <a:solidFill>
                  <a:srgbClr val="084B87"/>
                </a:solidFill>
                <a:latin typeface="Arimo"/>
                <a:ea typeface="Arimo"/>
                <a:cs typeface="Arimo"/>
                <a:sym typeface="Arimo"/>
              </a:rPr>
              <a:t>nh t</a:t>
            </a:r>
            <a:r>
              <a:rPr lang="en-US" sz="2624">
                <a:solidFill>
                  <a:srgbClr val="084B87"/>
                </a:solidFill>
                <a:latin typeface="Arimo"/>
                <a:ea typeface="Arimo"/>
                <a:cs typeface="Arimo"/>
                <a:sym typeface="Arimo"/>
              </a:rPr>
              <a:t>rạng sứ</a:t>
            </a:r>
            <a:r>
              <a:rPr lang="en-US" sz="2624">
                <a:solidFill>
                  <a:srgbClr val="084B87"/>
                </a:solidFill>
                <a:latin typeface="Arimo"/>
                <a:ea typeface="Arimo"/>
                <a:cs typeface="Arimo"/>
                <a:sym typeface="Arimo"/>
              </a:rPr>
              <a:t>c </a:t>
            </a:r>
            <a:r>
              <a:rPr lang="en-US" sz="2624">
                <a:solidFill>
                  <a:srgbClr val="084B87"/>
                </a:solidFill>
                <a:latin typeface="Arimo"/>
                <a:ea typeface="Arimo"/>
                <a:cs typeface="Arimo"/>
                <a:sym typeface="Arimo"/>
              </a:rPr>
              <a:t>khỏe</a:t>
            </a:r>
            <a:r>
              <a:rPr lang="en-US" sz="2624">
                <a:solidFill>
                  <a:srgbClr val="084B87"/>
                </a:solidFill>
                <a:latin typeface="Arimo"/>
                <a:ea typeface="Arimo"/>
                <a:cs typeface="Arimo"/>
                <a:sym typeface="Arimo"/>
              </a:rPr>
              <a:t> </a:t>
            </a:r>
            <a:r>
              <a:rPr lang="en-US" sz="2624">
                <a:solidFill>
                  <a:srgbClr val="084B87"/>
                </a:solidFill>
                <a:latin typeface="Arimo"/>
                <a:ea typeface="Arimo"/>
                <a:cs typeface="Arimo"/>
                <a:sym typeface="Arimo"/>
              </a:rPr>
              <a:t>và</a:t>
            </a:r>
            <a:r>
              <a:rPr lang="en-US" sz="2624">
                <a:solidFill>
                  <a:srgbClr val="084B87"/>
                </a:solidFill>
                <a:latin typeface="Arimo"/>
                <a:ea typeface="Arimo"/>
                <a:cs typeface="Arimo"/>
                <a:sym typeface="Arimo"/>
              </a:rPr>
              <a:t> </a:t>
            </a:r>
            <a:r>
              <a:rPr lang="en-US" sz="2624">
                <a:solidFill>
                  <a:srgbClr val="084B87"/>
                </a:solidFill>
                <a:latin typeface="Arimo"/>
                <a:ea typeface="Arimo"/>
                <a:cs typeface="Arimo"/>
                <a:sym typeface="Arimo"/>
              </a:rPr>
              <a:t>ch</a:t>
            </a:r>
            <a:r>
              <a:rPr lang="en-US" sz="2624">
                <a:solidFill>
                  <a:srgbClr val="084B87"/>
                </a:solidFill>
                <a:latin typeface="Arimo"/>
                <a:ea typeface="Arimo"/>
                <a:cs typeface="Arimo"/>
                <a:sym typeface="Arimo"/>
              </a:rPr>
              <a:t>uy</a:t>
            </a:r>
            <a:r>
              <a:rPr lang="en-US" sz="2624">
                <a:solidFill>
                  <a:srgbClr val="084B87"/>
                </a:solidFill>
                <a:latin typeface="Arimo"/>
                <a:ea typeface="Arimo"/>
                <a:cs typeface="Arimo"/>
                <a:sym typeface="Arimo"/>
              </a:rPr>
              <a:t>ên</a:t>
            </a:r>
            <a:r>
              <a:rPr lang="en-US" sz="2624">
                <a:solidFill>
                  <a:srgbClr val="084B87"/>
                </a:solidFill>
                <a:latin typeface="Arimo"/>
                <a:ea typeface="Arimo"/>
                <a:cs typeface="Arimo"/>
                <a:sym typeface="Arimo"/>
              </a:rPr>
              <a:t> </a:t>
            </a:r>
            <a:r>
              <a:rPr lang="en-US" sz="2624">
                <a:solidFill>
                  <a:srgbClr val="084B87"/>
                </a:solidFill>
                <a:latin typeface="Arimo"/>
                <a:ea typeface="Arimo"/>
                <a:cs typeface="Arimo"/>
                <a:sym typeface="Arimo"/>
              </a:rPr>
              <a:t>k</a:t>
            </a:r>
            <a:r>
              <a:rPr lang="en-US" sz="2624">
                <a:solidFill>
                  <a:srgbClr val="084B87"/>
                </a:solidFill>
                <a:latin typeface="Arimo"/>
                <a:ea typeface="Arimo"/>
                <a:cs typeface="Arimo"/>
                <a:sym typeface="Arimo"/>
              </a:rPr>
              <a:t>h</a:t>
            </a:r>
            <a:r>
              <a:rPr lang="en-US" sz="2624">
                <a:solidFill>
                  <a:srgbClr val="084B87"/>
                </a:solidFill>
                <a:latin typeface="Arimo"/>
                <a:ea typeface="Arimo"/>
                <a:cs typeface="Arimo"/>
                <a:sym typeface="Arimo"/>
              </a:rPr>
              <a:t>oa</a:t>
            </a:r>
            <a:r>
              <a:rPr lang="en-US" sz="2624">
                <a:solidFill>
                  <a:srgbClr val="084B87"/>
                </a:solidFill>
                <a:latin typeface="Arimo"/>
                <a:ea typeface="Arimo"/>
                <a:cs typeface="Arimo"/>
                <a:sym typeface="Arimo"/>
              </a:rPr>
              <a:t> t</a:t>
            </a:r>
            <a:r>
              <a:rPr lang="en-US" sz="2624">
                <a:solidFill>
                  <a:srgbClr val="084B87"/>
                </a:solidFill>
                <a:latin typeface="Arimo"/>
                <a:ea typeface="Arimo"/>
                <a:cs typeface="Arimo"/>
                <a:sym typeface="Arimo"/>
              </a:rPr>
              <a:t>ư</a:t>
            </a:r>
            <a:r>
              <a:rPr lang="en-US" sz="2624">
                <a:solidFill>
                  <a:srgbClr val="084B87"/>
                </a:solidFill>
                <a:latin typeface="Arimo"/>
                <a:ea typeface="Arimo"/>
                <a:cs typeface="Arimo"/>
                <a:sym typeface="Arimo"/>
              </a:rPr>
              <a:t> </a:t>
            </a:r>
            <a:r>
              <a:rPr lang="en-US" sz="2624">
                <a:solidFill>
                  <a:srgbClr val="084B87"/>
                </a:solidFill>
                <a:latin typeface="Arimo"/>
                <a:ea typeface="Arimo"/>
                <a:cs typeface="Arimo"/>
                <a:sym typeface="Arimo"/>
              </a:rPr>
              <a:t>vấ</a:t>
            </a:r>
            <a:r>
              <a:rPr lang="en-US" sz="2624">
                <a:solidFill>
                  <a:srgbClr val="084B87"/>
                </a:solidFill>
                <a:latin typeface="Arimo"/>
                <a:ea typeface="Arimo"/>
                <a:cs typeface="Arimo"/>
                <a:sym typeface="Arimo"/>
              </a:rPr>
              <a:t>n vaccin Zona</a:t>
            </a:r>
          </a:p>
          <a:p>
            <a:pPr algn="l">
              <a:lnSpc>
                <a:spcPts val="314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269260" y="1783013"/>
            <a:ext cx="11806482" cy="6611630"/>
          </a:xfrm>
          <a:custGeom>
            <a:avLst/>
            <a:gdLst/>
            <a:ahLst/>
            <a:cxnLst/>
            <a:rect r="r" b="b" t="t" l="l"/>
            <a:pathLst>
              <a:path h="6611630" w="11806482">
                <a:moveTo>
                  <a:pt x="0" y="0"/>
                </a:moveTo>
                <a:lnTo>
                  <a:pt x="11806482" y="0"/>
                </a:lnTo>
                <a:lnTo>
                  <a:pt x="11806482" y="6611630"/>
                </a:lnTo>
                <a:lnTo>
                  <a:pt x="0" y="6611630"/>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Ý ĐỊNH TIÊM ZONA CỦA NHÓM 50+</a:t>
            </a:r>
          </a:p>
        </p:txBody>
      </p:sp>
      <p:sp>
        <p:nvSpPr>
          <p:cNvPr name="TextBox 9" id="9"/>
          <p:cNvSpPr txBox="true"/>
          <p:nvPr/>
        </p:nvSpPr>
        <p:spPr>
          <a:xfrm rot="0">
            <a:off x="403097" y="1763963"/>
            <a:ext cx="5826469" cy="4705350"/>
          </a:xfrm>
          <a:prstGeom prst="rect">
            <a:avLst/>
          </a:prstGeom>
        </p:spPr>
        <p:txBody>
          <a:bodyPr anchor="t" rtlCol="false" tIns="0" lIns="0" bIns="0" rIns="0">
            <a:spAutoFit/>
          </a:bodyPr>
          <a:lstStyle/>
          <a:p>
            <a:pPr algn="l" marL="566648" indent="-283324" lvl="1">
              <a:lnSpc>
                <a:spcPts val="3149"/>
              </a:lnSpc>
              <a:buFont typeface="Arial"/>
              <a:buChar char="•"/>
            </a:pPr>
            <a:r>
              <a:rPr lang="en-US" sz="2624">
                <a:solidFill>
                  <a:srgbClr val="084B87"/>
                </a:solidFill>
                <a:latin typeface="Arimo"/>
                <a:ea typeface="Arimo"/>
                <a:cs typeface="Arimo"/>
                <a:sym typeface="Arimo"/>
              </a:rPr>
              <a:t>Ý</a:t>
            </a:r>
            <a:r>
              <a:rPr lang="en-US" sz="2624">
                <a:solidFill>
                  <a:srgbClr val="084B87"/>
                </a:solidFill>
                <a:latin typeface="Arimo"/>
                <a:ea typeface="Arimo"/>
                <a:cs typeface="Arimo"/>
                <a:sym typeface="Arimo"/>
              </a:rPr>
              <a:t> định tiêm cực thấp: 0.37% (1 mũi)</a:t>
            </a:r>
          </a:p>
          <a:p>
            <a:pPr algn="l" marL="566648" indent="-283324" lvl="1">
              <a:lnSpc>
                <a:spcPts val="3149"/>
              </a:lnSpc>
              <a:buFont typeface="Arial"/>
              <a:buChar char="•"/>
            </a:pPr>
            <a:r>
              <a:rPr lang="en-US" sz="2624">
                <a:solidFill>
                  <a:srgbClr val="084B87"/>
                </a:solidFill>
                <a:latin typeface="Arimo"/>
                <a:ea typeface="Arimo"/>
                <a:cs typeface="Arimo"/>
                <a:sym typeface="Arimo"/>
              </a:rPr>
              <a:t>Bác sĩ không khuyên dùng: 0%</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100% quyết định do bác sĩ gợi ý</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Tình trạng sức khỏe: Khỏe mạnh (100%)</a:t>
            </a:r>
          </a:p>
          <a:p>
            <a:pPr algn="l">
              <a:lnSpc>
                <a:spcPts val="3149"/>
              </a:lnSpc>
              <a:spcBef>
                <a:spcPct val="0"/>
              </a:spcBef>
            </a:pPr>
            <a:r>
              <a:rPr lang="en-US" sz="2624">
                <a:solidFill>
                  <a:srgbClr val="084B87"/>
                </a:solidFill>
                <a:latin typeface="Arimo"/>
                <a:ea typeface="Arimo"/>
                <a:cs typeface="Arimo"/>
                <a:sym typeface="Arimo"/>
              </a:rPr>
              <a:t>⟶ Bác sĩ nói là khách hàng tiêm</a:t>
            </a:r>
          </a:p>
          <a:p>
            <a:pPr algn="l">
              <a:lnSpc>
                <a:spcPts val="3149"/>
              </a:lnSpc>
              <a:spcBef>
                <a:spcPct val="0"/>
              </a:spcBef>
            </a:pPr>
            <a:r>
              <a:rPr lang="en-US" sz="2624">
                <a:solidFill>
                  <a:srgbClr val="084B87"/>
                </a:solidFill>
                <a:latin typeface="Arimo"/>
                <a:ea typeface="Arimo"/>
                <a:cs typeface="Arimo"/>
                <a:sym typeface="Arimo"/>
              </a:rPr>
              <a:t>⟶ Khách hàng </a:t>
            </a:r>
            <a:r>
              <a:rPr lang="en-US" sz="2624">
                <a:solidFill>
                  <a:srgbClr val="084B87"/>
                </a:solidFill>
                <a:latin typeface="Arimo"/>
                <a:ea typeface="Arimo"/>
                <a:cs typeface="Arimo"/>
                <a:sym typeface="Arimo"/>
              </a:rPr>
              <a:t>chủ động bảo vệ sức khỏe, không cần bệnh nền</a:t>
            </a:r>
          </a:p>
          <a:p>
            <a:pPr algn="l">
              <a:lnSpc>
                <a:spcPts val="3149"/>
              </a:lnSpc>
              <a:spcBef>
                <a:spcPct val="0"/>
              </a:spcBef>
            </a:pPr>
            <a:r>
              <a:rPr lang="en-US" sz="2624">
                <a:solidFill>
                  <a:srgbClr val="084B87"/>
                </a:solidFill>
                <a:latin typeface="Arimo"/>
                <a:ea typeface="Arimo"/>
                <a:cs typeface="Arimo"/>
                <a:sym typeface="Arimo"/>
              </a:rPr>
              <a:t>⟶ Vấn đề nằm ở đào tạo &amp; chủ động tư vấn, không phải nhu cầu thị trường</a:t>
            </a:r>
          </a:p>
          <a:p>
            <a:pPr algn="l">
              <a:lnSpc>
                <a:spcPts val="314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269260" y="1783013"/>
            <a:ext cx="11806482" cy="6611630"/>
          </a:xfrm>
          <a:custGeom>
            <a:avLst/>
            <a:gdLst/>
            <a:ahLst/>
            <a:cxnLst/>
            <a:rect r="r" b="b" t="t" l="l"/>
            <a:pathLst>
              <a:path h="6611630" w="11806482">
                <a:moveTo>
                  <a:pt x="0" y="0"/>
                </a:moveTo>
                <a:lnTo>
                  <a:pt x="11806482" y="0"/>
                </a:lnTo>
                <a:lnTo>
                  <a:pt x="11806482" y="6611630"/>
                </a:lnTo>
                <a:lnTo>
                  <a:pt x="0" y="6611630"/>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Ý ĐỊNH TIÊM ZONA CỦA NHÓM 50+</a:t>
            </a:r>
          </a:p>
        </p:txBody>
      </p:sp>
      <p:sp>
        <p:nvSpPr>
          <p:cNvPr name="TextBox 9" id="9"/>
          <p:cNvSpPr txBox="true"/>
          <p:nvPr/>
        </p:nvSpPr>
        <p:spPr>
          <a:xfrm rot="0">
            <a:off x="403097" y="1763963"/>
            <a:ext cx="5826469" cy="1971675"/>
          </a:xfrm>
          <a:prstGeom prst="rect">
            <a:avLst/>
          </a:prstGeom>
        </p:spPr>
        <p:txBody>
          <a:bodyPr anchor="t" rtlCol="false" tIns="0" lIns="0" bIns="0" rIns="0">
            <a:spAutoFit/>
          </a:bodyPr>
          <a:lstStyle/>
          <a:p>
            <a:pPr algn="l">
              <a:lnSpc>
                <a:spcPts val="3149"/>
              </a:lnSpc>
            </a:pPr>
            <a:r>
              <a:rPr lang="en-US" sz="2624">
                <a:solidFill>
                  <a:srgbClr val="084B87"/>
                </a:solidFill>
                <a:latin typeface="Arimo"/>
                <a:ea typeface="Arimo"/>
                <a:cs typeface="Arimo"/>
                <a:sym typeface="Arimo"/>
              </a:rPr>
              <a:t>Hành động:</a:t>
            </a:r>
          </a:p>
          <a:p>
            <a:pPr algn="l" marL="566648" indent="-283324" lvl="1">
              <a:lnSpc>
                <a:spcPts val="3149"/>
              </a:lnSpc>
              <a:buFont typeface="Arial"/>
              <a:buChar char="•"/>
            </a:pPr>
            <a:r>
              <a:rPr lang="en-US" sz="2624">
                <a:solidFill>
                  <a:srgbClr val="084B87"/>
                </a:solidFill>
                <a:latin typeface="Arimo"/>
                <a:ea typeface="Arimo"/>
                <a:cs typeface="Arimo"/>
                <a:sym typeface="Arimo"/>
              </a:rPr>
              <a:t>Đào tạo bác sĩ: Nâng nhận thức về gánh nặng Zona</a:t>
            </a:r>
          </a:p>
          <a:p>
            <a:pPr algn="l" marL="566648" indent="-283324" lvl="1">
              <a:lnSpc>
                <a:spcPts val="3149"/>
              </a:lnSpc>
              <a:spcBef>
                <a:spcPct val="0"/>
              </a:spcBef>
              <a:buFont typeface="Arial"/>
              <a:buChar char="•"/>
            </a:pPr>
            <a:r>
              <a:rPr lang="en-US" sz="2624">
                <a:solidFill>
                  <a:srgbClr val="084B87"/>
                </a:solidFill>
                <a:latin typeface="Arimo"/>
                <a:ea typeface="Arimo"/>
                <a:cs typeface="Arimo"/>
                <a:sym typeface="Arimo"/>
              </a:rPr>
              <a:t>Công cụ tư vấn: Tờ rơi, hình ảnh biến chứng tại bàn khám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724252" y="1783013"/>
            <a:ext cx="11230669" cy="6253149"/>
          </a:xfrm>
          <a:custGeom>
            <a:avLst/>
            <a:gdLst/>
            <a:ahLst/>
            <a:cxnLst/>
            <a:rect r="r" b="b" t="t" l="l"/>
            <a:pathLst>
              <a:path h="6253149" w="11230669">
                <a:moveTo>
                  <a:pt x="0" y="0"/>
                </a:moveTo>
                <a:lnTo>
                  <a:pt x="11230668" y="0"/>
                </a:lnTo>
                <a:lnTo>
                  <a:pt x="11230668" y="6253149"/>
                </a:lnTo>
                <a:lnTo>
                  <a:pt x="0" y="6253149"/>
                </a:lnTo>
                <a:lnTo>
                  <a:pt x="0" y="0"/>
                </a:lnTo>
                <a:close/>
              </a:path>
            </a:pathLst>
          </a:custGeom>
          <a:blipFill>
            <a:blip r:embed="rId9"/>
            <a:stretch>
              <a:fillRect l="0" t="-175" r="0" b="-175"/>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GIỚI THIỆU TẠI TRUNG TÂM TIÊM CHỦNG</a:t>
            </a:r>
          </a:p>
        </p:txBody>
      </p:sp>
      <p:sp>
        <p:nvSpPr>
          <p:cNvPr name="TextBox 9" id="9"/>
          <p:cNvSpPr txBox="true"/>
          <p:nvPr/>
        </p:nvSpPr>
        <p:spPr>
          <a:xfrm rot="0">
            <a:off x="403097" y="1763963"/>
            <a:ext cx="6069568" cy="5086350"/>
          </a:xfrm>
          <a:prstGeom prst="rect">
            <a:avLst/>
          </a:prstGeom>
        </p:spPr>
        <p:txBody>
          <a:bodyPr anchor="t" rtlCol="false" tIns="0" lIns="0" bIns="0" rIns="0">
            <a:spAutoFit/>
          </a:bodyPr>
          <a:lstStyle/>
          <a:p>
            <a:pPr algn="l">
              <a:lnSpc>
                <a:spcPts val="2909"/>
              </a:lnSpc>
            </a:pPr>
            <a:r>
              <a:rPr lang="en-US" sz="2424">
                <a:solidFill>
                  <a:srgbClr val="084B87"/>
                </a:solidFill>
                <a:latin typeface="Arimo"/>
                <a:ea typeface="Arimo"/>
                <a:cs typeface="Arimo"/>
                <a:sym typeface="Arimo"/>
              </a:rPr>
              <a:t>Tổng quan: </a:t>
            </a:r>
          </a:p>
          <a:p>
            <a:pPr algn="l" marL="523470" indent="-261735" lvl="1">
              <a:lnSpc>
                <a:spcPts val="2909"/>
              </a:lnSpc>
              <a:buFont typeface="Arial"/>
              <a:buChar char="•"/>
            </a:pPr>
            <a:r>
              <a:rPr lang="en-US" sz="2424">
                <a:solidFill>
                  <a:srgbClr val="084B87"/>
                </a:solidFill>
                <a:latin typeface="Arimo"/>
                <a:ea typeface="Arimo"/>
                <a:cs typeface="Arimo"/>
                <a:sym typeface="Arimo"/>
              </a:rPr>
              <a:t>Đối tượng: Người lớn từ 50 tuổi trở lên</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Phạm vi: Hà </a:t>
            </a:r>
            <a:r>
              <a:rPr lang="en-US" sz="2424">
                <a:solidFill>
                  <a:srgbClr val="084B87"/>
                </a:solidFill>
                <a:latin typeface="Arimo"/>
                <a:ea typeface="Arimo"/>
                <a:cs typeface="Arimo"/>
                <a:sym typeface="Arimo"/>
              </a:rPr>
              <a:t>Nội &amp; TP.HCM</a:t>
            </a:r>
          </a:p>
          <a:p>
            <a:pPr algn="l">
              <a:lnSpc>
                <a:spcPts val="2909"/>
              </a:lnSpc>
              <a:spcBef>
                <a:spcPct val="0"/>
              </a:spcBef>
            </a:pPr>
            <a:r>
              <a:rPr lang="en-US" sz="2424">
                <a:solidFill>
                  <a:srgbClr val="084B87"/>
                </a:solidFill>
                <a:latin typeface="Arimo"/>
                <a:ea typeface="Arimo"/>
                <a:cs typeface="Arimo"/>
                <a:sym typeface="Arimo"/>
              </a:rPr>
              <a:t>Mục tiêu:</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Đo lường hiệu quả tư vấn chủ động của đội ngũ y tế</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Theo dõi tỉ lệ khá</a:t>
            </a:r>
            <a:r>
              <a:rPr lang="en-US" sz="2424">
                <a:solidFill>
                  <a:srgbClr val="084B87"/>
                </a:solidFill>
                <a:latin typeface="Arimo"/>
                <a:ea typeface="Arimo"/>
                <a:cs typeface="Arimo"/>
                <a:sym typeface="Arimo"/>
              </a:rPr>
              <a:t>ch hàng đã thay đổi quyết định và đồng ý tiêm sau khi được tư vấn tại trung tâm.</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Tìm </a:t>
            </a:r>
            <a:r>
              <a:rPr lang="en-US" sz="2424">
                <a:solidFill>
                  <a:srgbClr val="084B87"/>
                </a:solidFill>
                <a:latin typeface="Arimo"/>
                <a:ea typeface="Arimo"/>
                <a:cs typeface="Arimo"/>
                <a:sym typeface="Arimo"/>
              </a:rPr>
              <a:t>hiểu lý do t</a:t>
            </a:r>
            <a:r>
              <a:rPr lang="en-US" sz="2424">
                <a:solidFill>
                  <a:srgbClr val="084B87"/>
                </a:solidFill>
                <a:latin typeface="Arimo"/>
                <a:ea typeface="Arimo"/>
                <a:cs typeface="Arimo"/>
                <a:sym typeface="Arimo"/>
              </a:rPr>
              <a:t>ại sao</a:t>
            </a:r>
            <a:r>
              <a:rPr lang="en-US" sz="2424">
                <a:solidFill>
                  <a:srgbClr val="084B87"/>
                </a:solidFill>
                <a:latin typeface="Arimo"/>
                <a:ea typeface="Arimo"/>
                <a:cs typeface="Arimo"/>
                <a:sym typeface="Arimo"/>
              </a:rPr>
              <a:t> </a:t>
            </a:r>
            <a:r>
              <a:rPr lang="en-US" sz="2424">
                <a:solidFill>
                  <a:srgbClr val="084B87"/>
                </a:solidFill>
                <a:latin typeface="Arimo"/>
                <a:ea typeface="Arimo"/>
                <a:cs typeface="Arimo"/>
                <a:sym typeface="Arimo"/>
              </a:rPr>
              <a:t>khách hàng</a:t>
            </a:r>
            <a:r>
              <a:rPr lang="en-US" sz="2424">
                <a:solidFill>
                  <a:srgbClr val="084B87"/>
                </a:solidFill>
                <a:latin typeface="Arimo"/>
                <a:ea typeface="Arimo"/>
                <a:cs typeface="Arimo"/>
                <a:sym typeface="Arimo"/>
              </a:rPr>
              <a:t> </a:t>
            </a:r>
            <a:r>
              <a:rPr lang="en-US" sz="2424">
                <a:solidFill>
                  <a:srgbClr val="084B87"/>
                </a:solidFill>
                <a:latin typeface="Arimo"/>
                <a:ea typeface="Arimo"/>
                <a:cs typeface="Arimo"/>
                <a:sym typeface="Arimo"/>
              </a:rPr>
              <a:t>vẫn từ</a:t>
            </a:r>
            <a:r>
              <a:rPr lang="en-US" sz="2424">
                <a:solidFill>
                  <a:srgbClr val="084B87"/>
                </a:solidFill>
                <a:latin typeface="Arimo"/>
                <a:ea typeface="Arimo"/>
                <a:cs typeface="Arimo"/>
                <a:sym typeface="Arimo"/>
              </a:rPr>
              <a:t> </a:t>
            </a:r>
            <a:r>
              <a:rPr lang="en-US" sz="2424">
                <a:solidFill>
                  <a:srgbClr val="084B87"/>
                </a:solidFill>
                <a:latin typeface="Arimo"/>
                <a:ea typeface="Arimo"/>
                <a:cs typeface="Arimo"/>
                <a:sym typeface="Arimo"/>
              </a:rPr>
              <a:t>chối tiêm</a:t>
            </a:r>
            <a:r>
              <a:rPr lang="en-US" sz="2424">
                <a:solidFill>
                  <a:srgbClr val="084B87"/>
                </a:solidFill>
                <a:latin typeface="Arimo"/>
                <a:ea typeface="Arimo"/>
                <a:cs typeface="Arimo"/>
                <a:sym typeface="Arimo"/>
              </a:rPr>
              <a:t> dù đã đ</a:t>
            </a:r>
            <a:r>
              <a:rPr lang="en-US" sz="2424">
                <a:solidFill>
                  <a:srgbClr val="084B87"/>
                </a:solidFill>
                <a:latin typeface="Arimo"/>
                <a:ea typeface="Arimo"/>
                <a:cs typeface="Arimo"/>
                <a:sym typeface="Arimo"/>
              </a:rPr>
              <a:t>ược</a:t>
            </a:r>
            <a:r>
              <a:rPr lang="en-US" sz="2424">
                <a:solidFill>
                  <a:srgbClr val="084B87"/>
                </a:solidFill>
                <a:latin typeface="Arimo"/>
                <a:ea typeface="Arimo"/>
                <a:cs typeface="Arimo"/>
                <a:sym typeface="Arimo"/>
              </a:rPr>
              <a:t> đội ngũ y tế trực tiếp khuyến nghị.</a:t>
            </a:r>
          </a:p>
          <a:p>
            <a:pPr algn="l" marL="523470" indent="-261735" lvl="1">
              <a:lnSpc>
                <a:spcPts val="2909"/>
              </a:lnSpc>
              <a:spcBef>
                <a:spcPct val="0"/>
              </a:spcBef>
              <a:buFont typeface="Arial"/>
              <a:buChar char="•"/>
            </a:pPr>
          </a:p>
          <a:p>
            <a:pPr algn="l">
              <a:lnSpc>
                <a:spcPts val="2909"/>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87" y="5584730"/>
            <a:ext cx="4902863" cy="4902863"/>
          </a:xfrm>
          <a:custGeom>
            <a:avLst/>
            <a:gdLst/>
            <a:ahLst/>
            <a:cxnLst/>
            <a:rect r="r" b="b" t="t" l="l"/>
            <a:pathLst>
              <a:path h="4902863" w="4902863">
                <a:moveTo>
                  <a:pt x="0" y="0"/>
                </a:moveTo>
                <a:lnTo>
                  <a:pt x="4902863" y="0"/>
                </a:lnTo>
                <a:lnTo>
                  <a:pt x="4902863"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084506" y="1763963"/>
            <a:ext cx="10870414" cy="6052562"/>
          </a:xfrm>
          <a:custGeom>
            <a:avLst/>
            <a:gdLst/>
            <a:ahLst/>
            <a:cxnLst/>
            <a:rect r="r" b="b" t="t" l="l"/>
            <a:pathLst>
              <a:path h="6052562" w="10870414">
                <a:moveTo>
                  <a:pt x="0" y="0"/>
                </a:moveTo>
                <a:lnTo>
                  <a:pt x="10870414" y="0"/>
                </a:lnTo>
                <a:lnTo>
                  <a:pt x="10870414" y="6052562"/>
                </a:lnTo>
                <a:lnTo>
                  <a:pt x="0" y="6052562"/>
                </a:lnTo>
                <a:lnTo>
                  <a:pt x="0" y="0"/>
                </a:lnTo>
                <a:close/>
              </a:path>
            </a:pathLst>
          </a:custGeom>
          <a:blipFill>
            <a:blip r:embed="rId9"/>
            <a:stretch>
              <a:fillRect l="0" t="-175" r="0" b="-175"/>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GIỚI THIỆU TẠI TRUNG TÂM TIÊM CHỦNG</a:t>
            </a:r>
          </a:p>
        </p:txBody>
      </p:sp>
      <p:sp>
        <p:nvSpPr>
          <p:cNvPr name="TextBox 9" id="9"/>
          <p:cNvSpPr txBox="true"/>
          <p:nvPr/>
        </p:nvSpPr>
        <p:spPr>
          <a:xfrm rot="0">
            <a:off x="1890511" y="1763963"/>
            <a:ext cx="4947801" cy="5133789"/>
          </a:xfrm>
          <a:prstGeom prst="rect">
            <a:avLst/>
          </a:prstGeom>
        </p:spPr>
        <p:txBody>
          <a:bodyPr anchor="t" rtlCol="false" tIns="0" lIns="0" bIns="0" rIns="0">
            <a:spAutoFit/>
          </a:bodyPr>
          <a:lstStyle/>
          <a:p>
            <a:pPr algn="l">
              <a:lnSpc>
                <a:spcPts val="2163"/>
              </a:lnSpc>
            </a:pPr>
            <a:r>
              <a:rPr lang="en-US" sz="1803">
                <a:solidFill>
                  <a:srgbClr val="084B87"/>
                </a:solidFill>
                <a:latin typeface="Arimo"/>
                <a:ea typeface="Arimo"/>
                <a:cs typeface="Arimo"/>
                <a:sym typeface="Arimo"/>
              </a:rPr>
              <a:t>Tư vấn hiệu quả nhất:</a:t>
            </a:r>
          </a:p>
          <a:p>
            <a:pPr algn="l" marL="389325" indent="-194663" lvl="1">
              <a:lnSpc>
                <a:spcPts val="2163"/>
              </a:lnSpc>
              <a:buFont typeface="Arial"/>
              <a:buChar char="•"/>
            </a:pPr>
            <a:r>
              <a:rPr lang="en-US" sz="1803">
                <a:solidFill>
                  <a:srgbClr val="084B87"/>
                </a:solidFill>
                <a:latin typeface="Arimo"/>
                <a:ea typeface="Arimo"/>
                <a:cs typeface="Arimo"/>
                <a:sym typeface="Arimo"/>
              </a:rPr>
              <a:t>Cúm (Influenza): 32.41%, HPV (Human Papillo</a:t>
            </a:r>
            <a:r>
              <a:rPr lang="en-US" sz="1803">
                <a:solidFill>
                  <a:srgbClr val="084B87"/>
                </a:solidFill>
                <a:latin typeface="Arimo"/>
                <a:ea typeface="Arimo"/>
                <a:cs typeface="Arimo"/>
                <a:sym typeface="Arimo"/>
              </a:rPr>
              <a:t>mavirus): 18.15%</a:t>
            </a:r>
          </a:p>
          <a:p>
            <a:pPr algn="l">
              <a:lnSpc>
                <a:spcPts val="2163"/>
              </a:lnSpc>
              <a:spcBef>
                <a:spcPct val="0"/>
              </a:spcBef>
            </a:pPr>
            <a:r>
              <a:rPr lang="en-US" sz="1803">
                <a:solidFill>
                  <a:srgbClr val="084B87"/>
                </a:solidFill>
                <a:latin typeface="Arimo"/>
                <a:ea typeface="Arimo"/>
                <a:cs typeface="Arimo"/>
                <a:sym typeface="Arimo"/>
              </a:rPr>
              <a:t>Các vaccine khác như: Zona (Shingles), Phế cầu (Pneumococcal) còn thấp</a:t>
            </a:r>
          </a:p>
          <a:p>
            <a:pPr algn="l">
              <a:lnSpc>
                <a:spcPts val="2163"/>
              </a:lnSpc>
              <a:spcBef>
                <a:spcPct val="0"/>
              </a:spcBef>
            </a:pPr>
            <a:r>
              <a:rPr lang="en-US" sz="1803">
                <a:solidFill>
                  <a:srgbClr val="084B87"/>
                </a:solidFill>
                <a:latin typeface="Arimo"/>
                <a:ea typeface="Arimo"/>
                <a:cs typeface="Arimo"/>
                <a:sym typeface="Arimo"/>
              </a:rPr>
              <a:t>Nguồn lực tư vấn chính còn thấp:</a:t>
            </a:r>
          </a:p>
          <a:p>
            <a:pPr algn="l" marL="389325" indent="-194663" lvl="1">
              <a:lnSpc>
                <a:spcPts val="2163"/>
              </a:lnSpc>
              <a:spcBef>
                <a:spcPct val="0"/>
              </a:spcBef>
              <a:buFont typeface="Arial"/>
              <a:buChar char="•"/>
            </a:pPr>
            <a:r>
              <a:rPr lang="en-US" sz="1803">
                <a:solidFill>
                  <a:srgbClr val="084B87"/>
                </a:solidFill>
                <a:latin typeface="Arimo"/>
                <a:ea typeface="Arimo"/>
                <a:cs typeface="Arimo"/>
                <a:sym typeface="Arimo"/>
              </a:rPr>
              <a:t>Bác sĩ: 35.42% (uy tín cao nhất)</a:t>
            </a:r>
          </a:p>
          <a:p>
            <a:pPr algn="l" marL="389325" indent="-194663" lvl="1">
              <a:lnSpc>
                <a:spcPts val="2163"/>
              </a:lnSpc>
              <a:spcBef>
                <a:spcPct val="0"/>
              </a:spcBef>
              <a:buFont typeface="Arial"/>
              <a:buChar char="•"/>
            </a:pPr>
            <a:r>
              <a:rPr lang="en-US" sz="1803">
                <a:solidFill>
                  <a:srgbClr val="084B87"/>
                </a:solidFill>
                <a:latin typeface="Arimo"/>
                <a:ea typeface="Arimo"/>
                <a:cs typeface="Arimo"/>
                <a:sym typeface="Arimo"/>
              </a:rPr>
              <a:t>Tiếp tân: 12.18% | Điều dưỡng: 4.43%</a:t>
            </a:r>
          </a:p>
          <a:p>
            <a:pPr algn="l">
              <a:lnSpc>
                <a:spcPts val="2163"/>
              </a:lnSpc>
              <a:spcBef>
                <a:spcPct val="0"/>
              </a:spcBef>
            </a:pPr>
            <a:r>
              <a:rPr lang="en-US" sz="1803">
                <a:solidFill>
                  <a:srgbClr val="084B87"/>
                </a:solidFill>
                <a:latin typeface="Arimo"/>
                <a:ea typeface="Arimo"/>
                <a:cs typeface="Arimo"/>
                <a:sym typeface="Arimo"/>
              </a:rPr>
              <a:t>Tỷ lệ chốt đơn rất thấp:</a:t>
            </a:r>
          </a:p>
          <a:p>
            <a:pPr algn="l" marL="389325" indent="-194663" lvl="1">
              <a:lnSpc>
                <a:spcPts val="2163"/>
              </a:lnSpc>
              <a:spcBef>
                <a:spcPct val="0"/>
              </a:spcBef>
              <a:buFont typeface="Arial"/>
              <a:buChar char="•"/>
            </a:pPr>
            <a:r>
              <a:rPr lang="en-US" sz="1803">
                <a:solidFill>
                  <a:srgbClr val="084B87"/>
                </a:solidFill>
                <a:latin typeface="Arimo"/>
                <a:ea typeface="Arimo"/>
                <a:cs typeface="Arimo"/>
                <a:sym typeface="Arimo"/>
              </a:rPr>
              <a:t>Hầu hết = 0%, chỉ Phế cầu (Pneumococcal): 4.29%</a:t>
            </a:r>
          </a:p>
          <a:p>
            <a:pPr algn="l">
              <a:lnSpc>
                <a:spcPts val="2163"/>
              </a:lnSpc>
              <a:spcBef>
                <a:spcPct val="0"/>
              </a:spcBef>
            </a:pPr>
            <a:r>
              <a:rPr lang="en-US" sz="1803">
                <a:solidFill>
                  <a:srgbClr val="084B87"/>
                </a:solidFill>
                <a:latin typeface="Arimo"/>
                <a:ea typeface="Arimo"/>
                <a:cs typeface="Arimo"/>
                <a:sym typeface="Arimo"/>
              </a:rPr>
              <a:t>⟶ </a:t>
            </a:r>
            <a:r>
              <a:rPr lang="en-US" sz="1803">
                <a:solidFill>
                  <a:srgbClr val="084B87"/>
                </a:solidFill>
                <a:latin typeface="Arimo"/>
                <a:ea typeface="Arimo"/>
                <a:cs typeface="Arimo"/>
                <a:sym typeface="Arimo"/>
              </a:rPr>
              <a:t>Tư vấn chưa đủ mạnh để thúc đẩy hành động ngay</a:t>
            </a:r>
          </a:p>
          <a:p>
            <a:pPr algn="l">
              <a:lnSpc>
                <a:spcPts val="2163"/>
              </a:lnSpc>
              <a:spcBef>
                <a:spcPct val="0"/>
              </a:spcBef>
            </a:pPr>
            <a:r>
              <a:rPr lang="en-US" sz="1803">
                <a:solidFill>
                  <a:srgbClr val="084B87"/>
                </a:solidFill>
                <a:latin typeface="Arimo"/>
                <a:ea typeface="Arimo"/>
                <a:cs typeface="Arimo"/>
                <a:sym typeface="Arimo"/>
              </a:rPr>
              <a:t>Rào cản lớn nhất:</a:t>
            </a:r>
          </a:p>
          <a:p>
            <a:pPr algn="l" marL="389325" indent="-194663" lvl="1">
              <a:lnSpc>
                <a:spcPts val="2163"/>
              </a:lnSpc>
              <a:spcBef>
                <a:spcPct val="0"/>
              </a:spcBef>
              <a:buFont typeface="Arial"/>
              <a:buChar char="•"/>
            </a:pPr>
            <a:r>
              <a:rPr lang="en-US" sz="1803">
                <a:solidFill>
                  <a:srgbClr val="084B87"/>
                </a:solidFill>
                <a:latin typeface="Arimo"/>
                <a:ea typeface="Arimo"/>
                <a:cs typeface="Arimo"/>
                <a:sym typeface="Arimo"/>
              </a:rPr>
              <a:t>Thiếu thời gian (79.4%), Lịch không thuận tiện (69%)</a:t>
            </a:r>
          </a:p>
          <a:p>
            <a:pPr algn="l" marL="389325" indent="-194663" lvl="1">
              <a:lnSpc>
                <a:spcPts val="2163"/>
              </a:lnSpc>
              <a:spcBef>
                <a:spcPct val="0"/>
              </a:spcBef>
              <a:buFont typeface="Arial"/>
              <a:buChar char="•"/>
            </a:pPr>
            <a:r>
              <a:rPr lang="en-US" sz="1803">
                <a:solidFill>
                  <a:srgbClr val="084B87"/>
                </a:solidFill>
                <a:latin typeface="Arimo"/>
                <a:ea typeface="Arimo"/>
                <a:cs typeface="Arimo"/>
                <a:sym typeface="Arimo"/>
              </a:rPr>
              <a:t>Chi phí chỉ đứng thứ 3 (39.7%)</a:t>
            </a:r>
          </a:p>
          <a:p>
            <a:pPr algn="l">
              <a:lnSpc>
                <a:spcPts val="2163"/>
              </a:lnSpc>
              <a:spcBef>
                <a:spcPct val="0"/>
              </a:spcBef>
            </a:pPr>
            <a:r>
              <a:rPr lang="en-US" sz="1803">
                <a:solidFill>
                  <a:srgbClr val="084B87"/>
                </a:solidFill>
                <a:latin typeface="Arimo"/>
                <a:ea typeface="Arimo"/>
                <a:cs typeface="Arimo"/>
                <a:sym typeface="Arimo"/>
              </a:rPr>
              <a:t>⟶ Đ</a:t>
            </a:r>
            <a:r>
              <a:rPr lang="en-US" sz="1803">
                <a:solidFill>
                  <a:srgbClr val="084B87"/>
                </a:solidFill>
                <a:latin typeface="Arimo"/>
                <a:ea typeface="Arimo"/>
                <a:cs typeface="Arimo"/>
                <a:sym typeface="Arimo"/>
              </a:rPr>
              <a:t>a số lo lắng về thời gian và chi phí </a:t>
            </a:r>
          </a:p>
          <a:p>
            <a:pPr algn="l">
              <a:lnSpc>
                <a:spcPts val="2163"/>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724252" y="1783013"/>
            <a:ext cx="11230669" cy="6253149"/>
          </a:xfrm>
          <a:custGeom>
            <a:avLst/>
            <a:gdLst/>
            <a:ahLst/>
            <a:cxnLst/>
            <a:rect r="r" b="b" t="t" l="l"/>
            <a:pathLst>
              <a:path h="6253149" w="11230669">
                <a:moveTo>
                  <a:pt x="0" y="0"/>
                </a:moveTo>
                <a:lnTo>
                  <a:pt x="11230668" y="0"/>
                </a:lnTo>
                <a:lnTo>
                  <a:pt x="11230668" y="6253149"/>
                </a:lnTo>
                <a:lnTo>
                  <a:pt x="0" y="6253149"/>
                </a:lnTo>
                <a:lnTo>
                  <a:pt x="0" y="0"/>
                </a:lnTo>
                <a:close/>
              </a:path>
            </a:pathLst>
          </a:custGeom>
          <a:blipFill>
            <a:blip r:embed="rId9"/>
            <a:stretch>
              <a:fillRect l="0" t="-175" r="0" b="-175"/>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GIỚI THIỆU TẠI TRUNG TÂM TIÊM CHỦNG</a:t>
            </a:r>
          </a:p>
        </p:txBody>
      </p:sp>
      <p:sp>
        <p:nvSpPr>
          <p:cNvPr name="TextBox 9" id="9"/>
          <p:cNvSpPr txBox="true"/>
          <p:nvPr/>
        </p:nvSpPr>
        <p:spPr>
          <a:xfrm rot="0">
            <a:off x="403097" y="1763963"/>
            <a:ext cx="6069568" cy="2190750"/>
          </a:xfrm>
          <a:prstGeom prst="rect">
            <a:avLst/>
          </a:prstGeom>
        </p:spPr>
        <p:txBody>
          <a:bodyPr anchor="t" rtlCol="false" tIns="0" lIns="0" bIns="0" rIns="0">
            <a:spAutoFit/>
          </a:bodyPr>
          <a:lstStyle/>
          <a:p>
            <a:pPr algn="l">
              <a:lnSpc>
                <a:spcPts val="2909"/>
              </a:lnSpc>
              <a:spcBef>
                <a:spcPct val="0"/>
              </a:spcBef>
            </a:pPr>
            <a:r>
              <a:rPr lang="en-US" sz="2424">
                <a:solidFill>
                  <a:srgbClr val="084B87"/>
                </a:solidFill>
                <a:latin typeface="Arimo"/>
                <a:ea typeface="Arimo"/>
                <a:cs typeface="Arimo"/>
                <a:sym typeface="Arimo"/>
              </a:rPr>
              <a:t>Hành động:</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Tối ưu quy trình: Giảm thời gian chờ </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Nâng cao kĩ năng tư vấn của đội ngũ y tế</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Đưa ra các g</a:t>
            </a:r>
            <a:r>
              <a:rPr lang="en-US" sz="2424">
                <a:solidFill>
                  <a:srgbClr val="084B87"/>
                </a:solidFill>
                <a:latin typeface="Arimo"/>
                <a:ea typeface="Arimo"/>
                <a:cs typeface="Arimo"/>
                <a:sym typeface="Arimo"/>
              </a:rPr>
              <a:t>ói tiêm vaccine kết hợp</a:t>
            </a:r>
          </a:p>
          <a:p>
            <a:pPr algn="l">
              <a:lnSpc>
                <a:spcPts val="2909"/>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578670" y="1783013"/>
            <a:ext cx="11392743" cy="6351454"/>
          </a:xfrm>
          <a:custGeom>
            <a:avLst/>
            <a:gdLst/>
            <a:ahLst/>
            <a:cxnLst/>
            <a:rect r="r" b="b" t="t" l="l"/>
            <a:pathLst>
              <a:path h="6351454" w="11392743">
                <a:moveTo>
                  <a:pt x="0" y="0"/>
                </a:moveTo>
                <a:lnTo>
                  <a:pt x="11392743" y="0"/>
                </a:lnTo>
                <a:lnTo>
                  <a:pt x="11392743" y="6351454"/>
                </a:lnTo>
                <a:lnTo>
                  <a:pt x="0" y="6351454"/>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MARKETING TẠI ĐIỂM BÁN</a:t>
            </a:r>
          </a:p>
        </p:txBody>
      </p:sp>
      <p:sp>
        <p:nvSpPr>
          <p:cNvPr name="TextBox 9" id="9"/>
          <p:cNvSpPr txBox="true"/>
          <p:nvPr/>
        </p:nvSpPr>
        <p:spPr>
          <a:xfrm rot="0">
            <a:off x="403097" y="1763963"/>
            <a:ext cx="6069568" cy="4000500"/>
          </a:xfrm>
          <a:prstGeom prst="rect">
            <a:avLst/>
          </a:prstGeom>
        </p:spPr>
        <p:txBody>
          <a:bodyPr anchor="t" rtlCol="false" tIns="0" lIns="0" bIns="0" rIns="0">
            <a:spAutoFit/>
          </a:bodyPr>
          <a:lstStyle/>
          <a:p>
            <a:pPr algn="l">
              <a:lnSpc>
                <a:spcPts val="2909"/>
              </a:lnSpc>
            </a:pPr>
            <a:r>
              <a:rPr lang="en-US" sz="2424">
                <a:solidFill>
                  <a:srgbClr val="084B87"/>
                </a:solidFill>
                <a:latin typeface="Arimo"/>
                <a:ea typeface="Arimo"/>
                <a:cs typeface="Arimo"/>
                <a:sym typeface="Arimo"/>
              </a:rPr>
              <a:t>Tổng quan: </a:t>
            </a:r>
          </a:p>
          <a:p>
            <a:pPr algn="l" marL="523470" indent="-261735" lvl="1">
              <a:lnSpc>
                <a:spcPts val="2909"/>
              </a:lnSpc>
              <a:buFont typeface="Arial"/>
              <a:buChar char="•"/>
            </a:pPr>
            <a:r>
              <a:rPr lang="en-US" sz="2424">
                <a:solidFill>
                  <a:srgbClr val="084B87"/>
                </a:solidFill>
                <a:latin typeface="Arimo"/>
                <a:ea typeface="Arimo"/>
                <a:cs typeface="Arimo"/>
                <a:sym typeface="Arimo"/>
              </a:rPr>
              <a:t>Đối tượng: Người lớn từ 50 tuổi trở lên</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Phạm vi: Hà </a:t>
            </a:r>
            <a:r>
              <a:rPr lang="en-US" sz="2424">
                <a:solidFill>
                  <a:srgbClr val="084B87"/>
                </a:solidFill>
                <a:latin typeface="Arimo"/>
                <a:ea typeface="Arimo"/>
                <a:cs typeface="Arimo"/>
                <a:sym typeface="Arimo"/>
              </a:rPr>
              <a:t>Nội &amp; TP.HCM</a:t>
            </a:r>
          </a:p>
          <a:p>
            <a:pPr algn="l">
              <a:lnSpc>
                <a:spcPts val="2909"/>
              </a:lnSpc>
              <a:spcBef>
                <a:spcPct val="0"/>
              </a:spcBef>
            </a:pPr>
            <a:r>
              <a:rPr lang="en-US" sz="2424">
                <a:solidFill>
                  <a:srgbClr val="084B87"/>
                </a:solidFill>
                <a:latin typeface="Arimo"/>
                <a:ea typeface="Arimo"/>
                <a:cs typeface="Arimo"/>
                <a:sym typeface="Arimo"/>
              </a:rPr>
              <a:t>Mục tiêu:</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Đo mức độ chú ý đến quảng cáo vaccine tại trung tâm</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Xác địn</a:t>
            </a:r>
            <a:r>
              <a:rPr lang="en-US" sz="2424">
                <a:solidFill>
                  <a:srgbClr val="084B87"/>
                </a:solidFill>
                <a:latin typeface="Arimo"/>
                <a:ea typeface="Arimo"/>
                <a:cs typeface="Arimo"/>
                <a:sym typeface="Arimo"/>
              </a:rPr>
              <a:t>h vật phẩm truyền thông hiệu quả nhất cho nhóm 50+</a:t>
            </a:r>
          </a:p>
          <a:p>
            <a:pPr algn="l" marL="523470" indent="-261735" lvl="1">
              <a:lnSpc>
                <a:spcPts val="2909"/>
              </a:lnSpc>
              <a:spcBef>
                <a:spcPct val="0"/>
              </a:spcBef>
              <a:buFont typeface="Arial"/>
              <a:buChar char="•"/>
            </a:pPr>
            <a:r>
              <a:rPr lang="en-US" sz="2424">
                <a:solidFill>
                  <a:srgbClr val="084B87"/>
                </a:solidFill>
                <a:latin typeface="Arimo"/>
                <a:ea typeface="Arimo"/>
                <a:cs typeface="Arimo"/>
                <a:sym typeface="Arimo"/>
              </a:rPr>
              <a:t>Đánh giá khả năng ghi nhớ thương</a:t>
            </a:r>
            <a:r>
              <a:rPr lang="en-US" sz="2424">
                <a:solidFill>
                  <a:srgbClr val="084B87"/>
                </a:solidFill>
                <a:latin typeface="Arimo"/>
                <a:ea typeface="Arimo"/>
                <a:cs typeface="Arimo"/>
                <a:sym typeface="Arimo"/>
              </a:rPr>
              <a:t> </a:t>
            </a:r>
            <a:r>
              <a:rPr lang="en-US" sz="2424">
                <a:solidFill>
                  <a:srgbClr val="084B87"/>
                </a:solidFill>
                <a:latin typeface="Arimo"/>
                <a:ea typeface="Arimo"/>
                <a:cs typeface="Arimo"/>
                <a:sym typeface="Arimo"/>
              </a:rPr>
              <a:t>hiệu sau</a:t>
            </a:r>
            <a:r>
              <a:rPr lang="en-US" sz="2424">
                <a:solidFill>
                  <a:srgbClr val="084B87"/>
                </a:solidFill>
                <a:latin typeface="Arimo"/>
                <a:ea typeface="Arimo"/>
                <a:cs typeface="Arimo"/>
                <a:sym typeface="Arimo"/>
              </a:rPr>
              <a:t> khi khách hàng tiếp</a:t>
            </a:r>
            <a:r>
              <a:rPr lang="en-US" sz="2424">
                <a:solidFill>
                  <a:srgbClr val="084B87"/>
                </a:solidFill>
                <a:latin typeface="Arimo"/>
                <a:ea typeface="Arimo"/>
                <a:cs typeface="Arimo"/>
                <a:sym typeface="Arimo"/>
              </a:rPr>
              <a:t> xú</a:t>
            </a:r>
            <a:r>
              <a:rPr lang="en-US" sz="2424">
                <a:solidFill>
                  <a:srgbClr val="084B87"/>
                </a:solidFill>
                <a:latin typeface="Arimo"/>
                <a:ea typeface="Arimo"/>
                <a:cs typeface="Arimo"/>
                <a:sym typeface="Arimo"/>
              </a:rPr>
              <a:t>c</a:t>
            </a:r>
          </a:p>
          <a:p>
            <a:pPr algn="l">
              <a:lnSpc>
                <a:spcPts val="2909"/>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578670" y="1783013"/>
            <a:ext cx="11392743" cy="6351454"/>
          </a:xfrm>
          <a:custGeom>
            <a:avLst/>
            <a:gdLst/>
            <a:ahLst/>
            <a:cxnLst/>
            <a:rect r="r" b="b" t="t" l="l"/>
            <a:pathLst>
              <a:path h="6351454" w="11392743">
                <a:moveTo>
                  <a:pt x="0" y="0"/>
                </a:moveTo>
                <a:lnTo>
                  <a:pt x="11392743" y="0"/>
                </a:lnTo>
                <a:lnTo>
                  <a:pt x="11392743" y="6351454"/>
                </a:lnTo>
                <a:lnTo>
                  <a:pt x="0" y="6351454"/>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MARKETING TẠI ĐIỂM BÁN</a:t>
            </a:r>
          </a:p>
        </p:txBody>
      </p:sp>
      <p:sp>
        <p:nvSpPr>
          <p:cNvPr name="TextBox 9" id="9"/>
          <p:cNvSpPr txBox="true"/>
          <p:nvPr/>
        </p:nvSpPr>
        <p:spPr>
          <a:xfrm rot="0">
            <a:off x="403097" y="1773488"/>
            <a:ext cx="6069568" cy="4676775"/>
          </a:xfrm>
          <a:prstGeom prst="rect">
            <a:avLst/>
          </a:prstGeom>
        </p:spPr>
        <p:txBody>
          <a:bodyPr anchor="t" rtlCol="false" tIns="0" lIns="0" bIns="0" rIns="0">
            <a:spAutoFit/>
          </a:bodyPr>
          <a:lstStyle/>
          <a:p>
            <a:pPr algn="l">
              <a:lnSpc>
                <a:spcPts val="2669"/>
              </a:lnSpc>
            </a:pPr>
            <a:r>
              <a:rPr lang="en-US" sz="2224">
                <a:solidFill>
                  <a:srgbClr val="084B87"/>
                </a:solidFill>
                <a:latin typeface="Arimo"/>
                <a:ea typeface="Arimo"/>
                <a:cs typeface="Arimo"/>
                <a:sym typeface="Arimo"/>
              </a:rPr>
              <a:t>Nhận diện cao nhất:</a:t>
            </a:r>
          </a:p>
          <a:p>
            <a:pPr algn="l" marL="480291" indent="-240145" lvl="1">
              <a:lnSpc>
                <a:spcPts val="2669"/>
              </a:lnSpc>
              <a:buFont typeface="Arial"/>
              <a:buChar char="•"/>
            </a:pPr>
            <a:r>
              <a:rPr lang="en-US" sz="2224">
                <a:solidFill>
                  <a:srgbClr val="084B87"/>
                </a:solidFill>
                <a:latin typeface="Arimo"/>
                <a:ea typeface="Arimo"/>
                <a:cs typeface="Arimo"/>
                <a:sym typeface="Arimo"/>
              </a:rPr>
              <a:t>Sốt xuất huyết (Dengue Fever): 30.20%</a:t>
            </a:r>
          </a:p>
          <a:p>
            <a:pPr algn="l" marL="480291" indent="-240145" lvl="1">
              <a:lnSpc>
                <a:spcPts val="2669"/>
              </a:lnSpc>
              <a:buFont typeface="Arial"/>
              <a:buChar char="•"/>
            </a:pPr>
            <a:r>
              <a:rPr lang="en-US" sz="2224">
                <a:solidFill>
                  <a:srgbClr val="084B87"/>
                </a:solidFill>
                <a:latin typeface="Arimo"/>
                <a:ea typeface="Arimo"/>
                <a:cs typeface="Arimo"/>
                <a:sym typeface="Arimo"/>
              </a:rPr>
              <a:t>HPV (Human Papillomavirus): 11.72%</a:t>
            </a:r>
          </a:p>
          <a:p>
            <a:pPr algn="l" marL="480291" indent="-240145" lvl="1">
              <a:lnSpc>
                <a:spcPts val="2669"/>
              </a:lnSpc>
              <a:buFont typeface="Arial"/>
              <a:buChar char="•"/>
            </a:pPr>
            <a:r>
              <a:rPr lang="en-US" sz="2224">
                <a:solidFill>
                  <a:srgbClr val="084B87"/>
                </a:solidFill>
                <a:latin typeface="Arimo"/>
                <a:ea typeface="Arimo"/>
                <a:cs typeface="Arimo"/>
                <a:sym typeface="Arimo"/>
              </a:rPr>
              <a:t>Phế cầu (Pneumococcal): 10.66%</a:t>
            </a:r>
          </a:p>
          <a:p>
            <a:pPr algn="l" marL="480291" indent="-240145" lvl="1">
              <a:lnSpc>
                <a:spcPts val="2669"/>
              </a:lnSpc>
              <a:spcBef>
                <a:spcPct val="0"/>
              </a:spcBef>
              <a:buFont typeface="Arial"/>
              <a:buChar char="•"/>
            </a:pPr>
            <a:r>
              <a:rPr lang="en-US" sz="2224">
                <a:solidFill>
                  <a:srgbClr val="084B87"/>
                </a:solidFill>
                <a:latin typeface="Arimo"/>
                <a:ea typeface="Arimo"/>
                <a:cs typeface="Arimo"/>
                <a:sym typeface="Arimo"/>
              </a:rPr>
              <a:t>Zona (Sh</a:t>
            </a:r>
            <a:r>
              <a:rPr lang="en-US" sz="2224">
                <a:solidFill>
                  <a:srgbClr val="084B87"/>
                </a:solidFill>
                <a:latin typeface="Arimo"/>
                <a:ea typeface="Arimo"/>
                <a:cs typeface="Arimo"/>
                <a:sym typeface="Arimo"/>
              </a:rPr>
              <a:t>ingles) &amp; Não mô cầu B (Meningococcal B) còn mờ</a:t>
            </a:r>
            <a:r>
              <a:rPr lang="en-US" sz="2224">
                <a:solidFill>
                  <a:srgbClr val="084B87"/>
                </a:solidFill>
                <a:latin typeface="Arimo"/>
                <a:ea typeface="Arimo"/>
                <a:cs typeface="Arimo"/>
                <a:sym typeface="Arimo"/>
              </a:rPr>
              <a:t> nhạt</a:t>
            </a:r>
          </a:p>
          <a:p>
            <a:pPr algn="l">
              <a:lnSpc>
                <a:spcPts val="2669"/>
              </a:lnSpc>
              <a:spcBef>
                <a:spcPct val="0"/>
              </a:spcBef>
            </a:pPr>
            <a:r>
              <a:rPr lang="en-US" sz="2224">
                <a:solidFill>
                  <a:srgbClr val="084B87"/>
                </a:solidFill>
                <a:latin typeface="Arimo"/>
                <a:ea typeface="Arimo"/>
                <a:cs typeface="Arimo"/>
                <a:sym typeface="Arimo"/>
              </a:rPr>
              <a:t>Vật phẩm hiệu quả nhất:</a:t>
            </a:r>
          </a:p>
          <a:p>
            <a:pPr algn="l" marL="480291" indent="-240145" lvl="1">
              <a:lnSpc>
                <a:spcPts val="2669"/>
              </a:lnSpc>
              <a:spcBef>
                <a:spcPct val="0"/>
              </a:spcBef>
              <a:buFont typeface="Arial"/>
              <a:buChar char="•"/>
            </a:pPr>
            <a:r>
              <a:rPr lang="en-US" sz="2224">
                <a:solidFill>
                  <a:srgbClr val="084B87"/>
                </a:solidFill>
                <a:latin typeface="Arimo"/>
                <a:ea typeface="Arimo"/>
                <a:cs typeface="Arimo"/>
                <a:sym typeface="Arimo"/>
              </a:rPr>
              <a:t>Standee: 80.38% (hiệu quả nhất)</a:t>
            </a:r>
          </a:p>
          <a:p>
            <a:pPr algn="l" marL="480291" indent="-240145" lvl="1">
              <a:lnSpc>
                <a:spcPts val="2669"/>
              </a:lnSpc>
              <a:spcBef>
                <a:spcPct val="0"/>
              </a:spcBef>
              <a:buFont typeface="Arial"/>
              <a:buChar char="•"/>
            </a:pPr>
            <a:r>
              <a:rPr lang="en-US" sz="2224">
                <a:solidFill>
                  <a:srgbClr val="084B87"/>
                </a:solidFill>
                <a:latin typeface="Arimo"/>
                <a:ea typeface="Arimo"/>
                <a:cs typeface="Arimo"/>
                <a:sym typeface="Arimo"/>
              </a:rPr>
              <a:t>Banner: 43.02% | Brochure: 33.96%</a:t>
            </a:r>
          </a:p>
          <a:p>
            <a:pPr algn="l">
              <a:lnSpc>
                <a:spcPts val="2669"/>
              </a:lnSpc>
              <a:spcBef>
                <a:spcPct val="0"/>
              </a:spcBef>
            </a:pPr>
            <a:r>
              <a:rPr lang="en-US" sz="2224">
                <a:solidFill>
                  <a:srgbClr val="084B87"/>
                </a:solidFill>
                <a:latin typeface="Arimo"/>
                <a:ea typeface="Arimo"/>
                <a:cs typeface="Arimo"/>
                <a:sym typeface="Arimo"/>
              </a:rPr>
              <a:t>⟶ </a:t>
            </a:r>
            <a:r>
              <a:rPr lang="en-US" sz="2224">
                <a:solidFill>
                  <a:srgbClr val="084B87"/>
                </a:solidFill>
                <a:latin typeface="Arimo"/>
                <a:ea typeface="Arimo"/>
                <a:cs typeface="Arimo"/>
                <a:sym typeface="Arimo"/>
              </a:rPr>
              <a:t>Người 50+ chú ý vật phẩm lớn trong tầm mắt, ít tiếp xúc các công cụ </a:t>
            </a:r>
          </a:p>
          <a:p>
            <a:pPr algn="l" marL="480291" indent="-240145" lvl="1">
              <a:lnSpc>
                <a:spcPts val="2669"/>
              </a:lnSpc>
              <a:spcBef>
                <a:spcPct val="0"/>
              </a:spcBef>
              <a:buFont typeface="Arial"/>
              <a:buChar char="•"/>
            </a:pPr>
            <a:r>
              <a:rPr lang="en-US" sz="2224">
                <a:solidFill>
                  <a:srgbClr val="084B87"/>
                </a:solidFill>
                <a:latin typeface="Arimo"/>
                <a:ea typeface="Arimo"/>
                <a:cs typeface="Arimo"/>
                <a:sym typeface="Arimo"/>
              </a:rPr>
              <a:t>98.82% không nhớ tên hãng</a:t>
            </a:r>
          </a:p>
          <a:p>
            <a:pPr algn="l">
              <a:lnSpc>
                <a:spcPts val="2669"/>
              </a:lnSpc>
              <a:spcBef>
                <a:spcPct val="0"/>
              </a:spcBef>
            </a:pPr>
            <a:r>
              <a:rPr lang="en-US" sz="2224">
                <a:solidFill>
                  <a:srgbClr val="084B87"/>
                </a:solidFill>
                <a:latin typeface="Arimo"/>
                <a:ea typeface="Arimo"/>
                <a:cs typeface="Arimo"/>
                <a:sym typeface="Arimo"/>
              </a:rPr>
              <a:t>⟶</a:t>
            </a:r>
            <a:r>
              <a:rPr lang="en-US" sz="2224">
                <a:solidFill>
                  <a:srgbClr val="084B87"/>
                </a:solidFill>
                <a:latin typeface="Arimo"/>
                <a:ea typeface="Arimo"/>
                <a:cs typeface="Arimo"/>
                <a:sym typeface="Arimo"/>
              </a:rPr>
              <a:t> </a:t>
            </a:r>
            <a:r>
              <a:rPr lang="en-US" sz="2224">
                <a:solidFill>
                  <a:srgbClr val="084B87"/>
                </a:solidFill>
                <a:latin typeface="Arimo"/>
                <a:ea typeface="Arimo"/>
                <a:cs typeface="Arimo"/>
                <a:sym typeface="Arimo"/>
              </a:rPr>
              <a:t>Khách nhớ bệnh, không nhớ Brand</a:t>
            </a:r>
          </a:p>
          <a:p>
            <a:pPr algn="l">
              <a:lnSpc>
                <a:spcPts val="266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450" y="6213850"/>
            <a:ext cx="2932426" cy="2113516"/>
            <a:chOff x="0" y="0"/>
            <a:chExt cx="3909901" cy="2818021"/>
          </a:xfrm>
        </p:grpSpPr>
        <p:sp>
          <p:nvSpPr>
            <p:cNvPr name="Freeform 3" id="3"/>
            <p:cNvSpPr/>
            <p:nvPr/>
          </p:nvSpPr>
          <p:spPr>
            <a:xfrm flipH="false" flipV="false" rot="0">
              <a:off x="62987" y="254"/>
              <a:ext cx="3216500" cy="2817749"/>
            </a:xfrm>
            <a:custGeom>
              <a:avLst/>
              <a:gdLst/>
              <a:ahLst/>
              <a:cxnLst/>
              <a:rect r="r" b="b" t="t" l="l"/>
              <a:pathLst>
                <a:path h="2817749" w="3216500">
                  <a:moveTo>
                    <a:pt x="1422786" y="0"/>
                  </a:moveTo>
                  <a:cubicBezTo>
                    <a:pt x="1258321" y="0"/>
                    <a:pt x="1129543" y="19939"/>
                    <a:pt x="1070869" y="62357"/>
                  </a:cubicBezTo>
                  <a:cubicBezTo>
                    <a:pt x="1066424" y="62103"/>
                    <a:pt x="1061979" y="62103"/>
                    <a:pt x="1057661" y="62103"/>
                  </a:cubicBezTo>
                  <a:cubicBezTo>
                    <a:pt x="168153" y="62103"/>
                    <a:pt x="-62987" y="1201293"/>
                    <a:pt x="13721" y="1876933"/>
                  </a:cubicBezTo>
                  <a:cubicBezTo>
                    <a:pt x="89286" y="2543302"/>
                    <a:pt x="1048009" y="2801493"/>
                    <a:pt x="1584330" y="2817241"/>
                  </a:cubicBezTo>
                  <a:cubicBezTo>
                    <a:pt x="1593601" y="2817495"/>
                    <a:pt x="1602999" y="2817749"/>
                    <a:pt x="1612270" y="2817749"/>
                  </a:cubicBezTo>
                  <a:cubicBezTo>
                    <a:pt x="2662814" y="2817749"/>
                    <a:pt x="3846708" y="1073150"/>
                    <a:pt x="2825628" y="356108"/>
                  </a:cubicBezTo>
                  <a:cubicBezTo>
                    <a:pt x="2507239" y="132080"/>
                    <a:pt x="1846204" y="0"/>
                    <a:pt x="1422786" y="0"/>
                  </a:cubicBezTo>
                  <a:close/>
                </a:path>
              </a:pathLst>
            </a:custGeom>
            <a:solidFill>
              <a:srgbClr val="CFE6FF"/>
            </a:solidFill>
          </p:spPr>
        </p:sp>
      </p:grpSp>
      <p:sp>
        <p:nvSpPr>
          <p:cNvPr name="Freeform 4" id="4"/>
          <p:cNvSpPr/>
          <p:nvPr/>
        </p:nvSpPr>
        <p:spPr>
          <a:xfrm flipH="false" flipV="false" rot="0">
            <a:off x="16697500" y="92067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4968" y="6505054"/>
            <a:ext cx="783908" cy="1531108"/>
          </a:xfrm>
          <a:custGeom>
            <a:avLst/>
            <a:gdLst/>
            <a:ahLst/>
            <a:cxnLst/>
            <a:rect r="r" b="b" t="t" l="l"/>
            <a:pathLst>
              <a:path h="1531108" w="783908">
                <a:moveTo>
                  <a:pt x="0" y="0"/>
                </a:moveTo>
                <a:lnTo>
                  <a:pt x="783908" y="0"/>
                </a:lnTo>
                <a:lnTo>
                  <a:pt x="783908" y="1531108"/>
                </a:lnTo>
                <a:lnTo>
                  <a:pt x="0" y="15311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548849" y="538414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578670" y="1783013"/>
            <a:ext cx="11392743" cy="6351454"/>
          </a:xfrm>
          <a:custGeom>
            <a:avLst/>
            <a:gdLst/>
            <a:ahLst/>
            <a:cxnLst/>
            <a:rect r="r" b="b" t="t" l="l"/>
            <a:pathLst>
              <a:path h="6351454" w="11392743">
                <a:moveTo>
                  <a:pt x="0" y="0"/>
                </a:moveTo>
                <a:lnTo>
                  <a:pt x="11392743" y="0"/>
                </a:lnTo>
                <a:lnTo>
                  <a:pt x="11392743" y="6351454"/>
                </a:lnTo>
                <a:lnTo>
                  <a:pt x="0" y="6351454"/>
                </a:lnTo>
                <a:lnTo>
                  <a:pt x="0" y="0"/>
                </a:lnTo>
                <a:close/>
              </a:path>
            </a:pathLst>
          </a:custGeom>
          <a:blipFill>
            <a:blip r:embed="rId9"/>
            <a:stretch>
              <a:fillRect l="0" t="0" r="0" b="0"/>
            </a:stretch>
          </a:blipFill>
        </p:spPr>
      </p:sp>
      <p:sp>
        <p:nvSpPr>
          <p:cNvPr name="TextBox 8" id="8"/>
          <p:cNvSpPr txBox="true"/>
          <p:nvPr/>
        </p:nvSpPr>
        <p:spPr>
          <a:xfrm rot="0">
            <a:off x="1024754" y="783751"/>
            <a:ext cx="16234546" cy="800468"/>
          </a:xfrm>
          <a:prstGeom prst="rect">
            <a:avLst/>
          </a:prstGeom>
        </p:spPr>
        <p:txBody>
          <a:bodyPr anchor="t" rtlCol="false" tIns="0" lIns="0" bIns="0" rIns="0">
            <a:spAutoFit/>
          </a:bodyPr>
          <a:lstStyle/>
          <a:p>
            <a:pPr algn="l">
              <a:lnSpc>
                <a:spcPts val="6141"/>
              </a:lnSpc>
            </a:pPr>
            <a:r>
              <a:rPr lang="en-US" sz="5118">
                <a:solidFill>
                  <a:srgbClr val="084B87"/>
                </a:solidFill>
                <a:latin typeface="Arimo"/>
                <a:ea typeface="Arimo"/>
                <a:cs typeface="Arimo"/>
                <a:sym typeface="Arimo"/>
              </a:rPr>
              <a:t>BÁO CÁO MARKETING TẠI ĐIỂM BÁN</a:t>
            </a:r>
          </a:p>
        </p:txBody>
      </p:sp>
      <p:sp>
        <p:nvSpPr>
          <p:cNvPr name="TextBox 9" id="9"/>
          <p:cNvSpPr txBox="true"/>
          <p:nvPr/>
        </p:nvSpPr>
        <p:spPr>
          <a:xfrm rot="0">
            <a:off x="403097" y="1773488"/>
            <a:ext cx="6069568" cy="3009900"/>
          </a:xfrm>
          <a:prstGeom prst="rect">
            <a:avLst/>
          </a:prstGeom>
        </p:spPr>
        <p:txBody>
          <a:bodyPr anchor="t" rtlCol="false" tIns="0" lIns="0" bIns="0" rIns="0">
            <a:spAutoFit/>
          </a:bodyPr>
          <a:lstStyle/>
          <a:p>
            <a:pPr algn="l">
              <a:lnSpc>
                <a:spcPts val="2669"/>
              </a:lnSpc>
            </a:pPr>
            <a:r>
              <a:rPr lang="en-US" sz="2224">
                <a:solidFill>
                  <a:srgbClr val="084B87"/>
                </a:solidFill>
                <a:latin typeface="Arimo"/>
                <a:ea typeface="Arimo"/>
                <a:cs typeface="Arimo"/>
                <a:sym typeface="Arimo"/>
              </a:rPr>
              <a:t>Hành động:</a:t>
            </a:r>
          </a:p>
          <a:p>
            <a:pPr algn="l" marL="480291" indent="-240145" lvl="1">
              <a:lnSpc>
                <a:spcPts val="2669"/>
              </a:lnSpc>
              <a:buFont typeface="Arial"/>
              <a:buChar char="•"/>
            </a:pPr>
            <a:r>
              <a:rPr lang="en-US" sz="2224">
                <a:solidFill>
                  <a:srgbClr val="084B87"/>
                </a:solidFill>
                <a:latin typeface="Arimo"/>
                <a:ea typeface="Arimo"/>
                <a:cs typeface="Arimo"/>
                <a:sym typeface="Arimo"/>
              </a:rPr>
              <a:t>Ưu tiên Stand-up displays Standee &amp; Banner</a:t>
            </a:r>
          </a:p>
          <a:p>
            <a:pPr algn="l" marL="480291" indent="-240145" lvl="1">
              <a:lnSpc>
                <a:spcPts val="2669"/>
              </a:lnSpc>
              <a:buFont typeface="Arial"/>
              <a:buChar char="•"/>
            </a:pPr>
            <a:r>
              <a:rPr lang="en-US" sz="2224">
                <a:solidFill>
                  <a:srgbClr val="084B87"/>
                </a:solidFill>
                <a:latin typeface="Arimo"/>
                <a:ea typeface="Arimo"/>
                <a:cs typeface="Arimo"/>
                <a:sym typeface="Arimo"/>
              </a:rPr>
              <a:t>Nhấn mạnh nguy cơ &amp; biến chứng bệnh</a:t>
            </a:r>
          </a:p>
          <a:p>
            <a:pPr algn="l" marL="480291" indent="-240145" lvl="1">
              <a:lnSpc>
                <a:spcPts val="2669"/>
              </a:lnSpc>
              <a:buFont typeface="Arial"/>
              <a:buChar char="•"/>
            </a:pPr>
            <a:r>
              <a:rPr lang="en-US" sz="2224">
                <a:solidFill>
                  <a:srgbClr val="084B87"/>
                </a:solidFill>
                <a:latin typeface="Arimo"/>
                <a:ea typeface="Arimo"/>
                <a:cs typeface="Arimo"/>
                <a:sym typeface="Arimo"/>
              </a:rPr>
              <a:t>Kết hợp chặt chẽ giữa vật phẩm quảng cáo và tư vấn để khi khách hàng vừa nhìn thấy Standee và bước vào phòng khám thì bác sĩ chốt được thương hiệu ngay lập tức</a:t>
            </a:r>
          </a:p>
          <a:p>
            <a:pPr algn="l">
              <a:lnSpc>
                <a:spcPts val="2669"/>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28728" y="8455287"/>
            <a:ext cx="5305192" cy="3491154"/>
          </a:xfrm>
          <a:custGeom>
            <a:avLst/>
            <a:gdLst/>
            <a:ahLst/>
            <a:cxnLst/>
            <a:rect r="r" b="b" t="t" l="l"/>
            <a:pathLst>
              <a:path h="3491154" w="5305192">
                <a:moveTo>
                  <a:pt x="0" y="0"/>
                </a:moveTo>
                <a:lnTo>
                  <a:pt x="5305192" y="0"/>
                </a:lnTo>
                <a:lnTo>
                  <a:pt x="5305192" y="3491154"/>
                </a:lnTo>
                <a:lnTo>
                  <a:pt x="0" y="34911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35194" y="-2819504"/>
            <a:ext cx="3671504" cy="5025816"/>
          </a:xfrm>
          <a:custGeom>
            <a:avLst/>
            <a:gdLst/>
            <a:ahLst/>
            <a:cxnLst/>
            <a:rect r="r" b="b" t="t" l="l"/>
            <a:pathLst>
              <a:path h="5025816" w="3671504">
                <a:moveTo>
                  <a:pt x="0" y="0"/>
                </a:moveTo>
                <a:lnTo>
                  <a:pt x="3671504" y="0"/>
                </a:lnTo>
                <a:lnTo>
                  <a:pt x="3671504" y="5025816"/>
                </a:lnTo>
                <a:lnTo>
                  <a:pt x="0" y="50258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756234" y="7442977"/>
            <a:ext cx="5857659" cy="5515758"/>
          </a:xfrm>
          <a:custGeom>
            <a:avLst/>
            <a:gdLst/>
            <a:ahLst/>
            <a:cxnLst/>
            <a:rect r="r" b="b" t="t" l="l"/>
            <a:pathLst>
              <a:path h="5515758" w="5857659">
                <a:moveTo>
                  <a:pt x="0" y="0"/>
                </a:moveTo>
                <a:lnTo>
                  <a:pt x="5857658" y="0"/>
                </a:lnTo>
                <a:lnTo>
                  <a:pt x="5857658" y="5515758"/>
                </a:lnTo>
                <a:lnTo>
                  <a:pt x="0" y="55157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 id="5"/>
          <p:cNvGrpSpPr/>
          <p:nvPr/>
        </p:nvGrpSpPr>
        <p:grpSpPr>
          <a:xfrm rot="0">
            <a:off x="15530630" y="-949482"/>
            <a:ext cx="3347658" cy="2412780"/>
            <a:chOff x="0" y="0"/>
            <a:chExt cx="4463544" cy="3217040"/>
          </a:xfrm>
        </p:grpSpPr>
        <p:sp>
          <p:nvSpPr>
            <p:cNvPr name="Freeform 6" id="6"/>
            <p:cNvSpPr/>
            <p:nvPr/>
          </p:nvSpPr>
          <p:spPr>
            <a:xfrm flipH="false" flipV="false" rot="0">
              <a:off x="719675" y="254"/>
              <a:ext cx="3671918" cy="3216783"/>
            </a:xfrm>
            <a:custGeom>
              <a:avLst/>
              <a:gdLst/>
              <a:ahLst/>
              <a:cxnLst/>
              <a:rect r="r" b="b" t="t" l="l"/>
              <a:pathLst>
                <a:path h="3216783" w="3671918">
                  <a:moveTo>
                    <a:pt x="2047782" y="0"/>
                  </a:moveTo>
                  <a:cubicBezTo>
                    <a:pt x="2235488" y="0"/>
                    <a:pt x="2382554" y="22860"/>
                    <a:pt x="2449483" y="71120"/>
                  </a:cubicBezTo>
                  <a:cubicBezTo>
                    <a:pt x="2454563" y="70866"/>
                    <a:pt x="2459516" y="70866"/>
                    <a:pt x="2464596" y="70866"/>
                  </a:cubicBezTo>
                  <a:cubicBezTo>
                    <a:pt x="3479961" y="70866"/>
                    <a:pt x="3743867" y="1371346"/>
                    <a:pt x="3656237" y="2142744"/>
                  </a:cubicBezTo>
                  <a:cubicBezTo>
                    <a:pt x="3570004" y="2903474"/>
                    <a:pt x="2475518" y="3198241"/>
                    <a:pt x="1863251" y="3216275"/>
                  </a:cubicBezTo>
                  <a:cubicBezTo>
                    <a:pt x="1852583" y="3216529"/>
                    <a:pt x="1842042" y="3216783"/>
                    <a:pt x="1831374" y="3216783"/>
                  </a:cubicBezTo>
                  <a:cubicBezTo>
                    <a:pt x="632113" y="3216783"/>
                    <a:pt x="-719421" y="1225169"/>
                    <a:pt x="446185" y="406527"/>
                  </a:cubicBezTo>
                  <a:cubicBezTo>
                    <a:pt x="809659" y="150876"/>
                    <a:pt x="1564293" y="0"/>
                    <a:pt x="2047782" y="0"/>
                  </a:cubicBezTo>
                  <a:close/>
                </a:path>
              </a:pathLst>
            </a:custGeom>
            <a:solidFill>
              <a:srgbClr val="F0F0F0"/>
            </a:solidFill>
          </p:spPr>
        </p:sp>
      </p:grpSp>
      <p:sp>
        <p:nvSpPr>
          <p:cNvPr name="Freeform 7" id="7"/>
          <p:cNvSpPr/>
          <p:nvPr/>
        </p:nvSpPr>
        <p:spPr>
          <a:xfrm flipH="false" flipV="false" rot="0">
            <a:off x="15972967" y="8312207"/>
            <a:ext cx="1601102" cy="1870888"/>
          </a:xfrm>
          <a:custGeom>
            <a:avLst/>
            <a:gdLst/>
            <a:ahLst/>
            <a:cxnLst/>
            <a:rect r="r" b="b" t="t" l="l"/>
            <a:pathLst>
              <a:path h="1870888" w="1601102">
                <a:moveTo>
                  <a:pt x="0" y="0"/>
                </a:moveTo>
                <a:lnTo>
                  <a:pt x="1601102" y="0"/>
                </a:lnTo>
                <a:lnTo>
                  <a:pt x="1601102" y="1870888"/>
                </a:lnTo>
                <a:lnTo>
                  <a:pt x="0" y="18708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2253656" y="7520156"/>
            <a:ext cx="6678716" cy="4931559"/>
          </a:xfrm>
          <a:custGeom>
            <a:avLst/>
            <a:gdLst/>
            <a:ahLst/>
            <a:cxnLst/>
            <a:rect r="r" b="b" t="t" l="l"/>
            <a:pathLst>
              <a:path h="4931559" w="6678716">
                <a:moveTo>
                  <a:pt x="0" y="0"/>
                </a:moveTo>
                <a:lnTo>
                  <a:pt x="6678716" y="0"/>
                </a:lnTo>
                <a:lnTo>
                  <a:pt x="6678716" y="4931558"/>
                </a:lnTo>
                <a:lnTo>
                  <a:pt x="0" y="49315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735211" y="-1112163"/>
            <a:ext cx="4902863" cy="4902863"/>
          </a:xfrm>
          <a:custGeom>
            <a:avLst/>
            <a:gdLst/>
            <a:ahLst/>
            <a:cxnLst/>
            <a:rect r="r" b="b" t="t" l="l"/>
            <a:pathLst>
              <a:path h="4902863" w="4902863">
                <a:moveTo>
                  <a:pt x="0" y="0"/>
                </a:moveTo>
                <a:lnTo>
                  <a:pt x="4902864" y="0"/>
                </a:lnTo>
                <a:lnTo>
                  <a:pt x="4902864" y="4902864"/>
                </a:lnTo>
                <a:lnTo>
                  <a:pt x="0" y="490286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5665354" y="-347319"/>
            <a:ext cx="4813540" cy="4586220"/>
          </a:xfrm>
          <a:custGeom>
            <a:avLst/>
            <a:gdLst/>
            <a:ahLst/>
            <a:cxnLst/>
            <a:rect r="r" b="b" t="t" l="l"/>
            <a:pathLst>
              <a:path h="4586220" w="4813540">
                <a:moveTo>
                  <a:pt x="0" y="0"/>
                </a:moveTo>
                <a:lnTo>
                  <a:pt x="4813540" y="0"/>
                </a:lnTo>
                <a:lnTo>
                  <a:pt x="4813540" y="4586220"/>
                </a:lnTo>
                <a:lnTo>
                  <a:pt x="0" y="458622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923695" y="650046"/>
            <a:ext cx="1234089" cy="1343179"/>
          </a:xfrm>
          <a:custGeom>
            <a:avLst/>
            <a:gdLst/>
            <a:ahLst/>
            <a:cxnLst/>
            <a:rect r="r" b="b" t="t" l="l"/>
            <a:pathLst>
              <a:path h="1343179" w="1234089">
                <a:moveTo>
                  <a:pt x="0" y="0"/>
                </a:moveTo>
                <a:lnTo>
                  <a:pt x="1234089" y="0"/>
                </a:lnTo>
                <a:lnTo>
                  <a:pt x="1234089" y="1343179"/>
                </a:lnTo>
                <a:lnTo>
                  <a:pt x="0" y="134317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2" id="12"/>
          <p:cNvGrpSpPr/>
          <p:nvPr/>
        </p:nvGrpSpPr>
        <p:grpSpPr>
          <a:xfrm rot="0">
            <a:off x="1043236" y="9732558"/>
            <a:ext cx="1732950" cy="1323550"/>
            <a:chOff x="0" y="0"/>
            <a:chExt cx="2310600" cy="1764733"/>
          </a:xfrm>
        </p:grpSpPr>
        <p:sp>
          <p:nvSpPr>
            <p:cNvPr name="Freeform 13" id="13"/>
            <p:cNvSpPr/>
            <p:nvPr/>
          </p:nvSpPr>
          <p:spPr>
            <a:xfrm flipH="false" flipV="false" rot="0">
              <a:off x="62971" y="127"/>
              <a:ext cx="2140732" cy="1764665"/>
            </a:xfrm>
            <a:custGeom>
              <a:avLst/>
              <a:gdLst/>
              <a:ahLst/>
              <a:cxnLst/>
              <a:rect r="r" b="b" t="t" l="l"/>
              <a:pathLst>
                <a:path h="1764665" w="2140732">
                  <a:moveTo>
                    <a:pt x="1417722" y="0"/>
                  </a:moveTo>
                  <a:cubicBezTo>
                    <a:pt x="986049" y="0"/>
                    <a:pt x="87270" y="388620"/>
                    <a:pt x="80539" y="406019"/>
                  </a:cubicBezTo>
                  <a:cubicBezTo>
                    <a:pt x="-62971" y="768731"/>
                    <a:pt x="-20807" y="1375664"/>
                    <a:pt x="256434" y="1686052"/>
                  </a:cubicBezTo>
                  <a:cubicBezTo>
                    <a:pt x="305710" y="1741297"/>
                    <a:pt x="391943" y="1764665"/>
                    <a:pt x="501163" y="1764665"/>
                  </a:cubicBezTo>
                  <a:cubicBezTo>
                    <a:pt x="1005226" y="1764665"/>
                    <a:pt x="1999128" y="1267714"/>
                    <a:pt x="2111015" y="1122172"/>
                  </a:cubicBezTo>
                  <a:cubicBezTo>
                    <a:pt x="2247540" y="945134"/>
                    <a:pt x="1888892" y="118618"/>
                    <a:pt x="1540023" y="14732"/>
                  </a:cubicBezTo>
                  <a:cubicBezTo>
                    <a:pt x="1505987" y="4572"/>
                    <a:pt x="1464585" y="127"/>
                    <a:pt x="1417722" y="127"/>
                  </a:cubicBezTo>
                  <a:close/>
                </a:path>
              </a:pathLst>
            </a:custGeom>
            <a:solidFill>
              <a:srgbClr val="008DDD"/>
            </a:solidFill>
          </p:spPr>
        </p:sp>
      </p:grpSp>
      <p:sp>
        <p:nvSpPr>
          <p:cNvPr name="Freeform 14" id="14"/>
          <p:cNvSpPr/>
          <p:nvPr/>
        </p:nvSpPr>
        <p:spPr>
          <a:xfrm flipH="false" flipV="false" rot="0">
            <a:off x="8075136" y="9225868"/>
            <a:ext cx="2137726" cy="996154"/>
          </a:xfrm>
          <a:custGeom>
            <a:avLst/>
            <a:gdLst/>
            <a:ahLst/>
            <a:cxnLst/>
            <a:rect r="r" b="b" t="t" l="l"/>
            <a:pathLst>
              <a:path h="996154" w="2137726">
                <a:moveTo>
                  <a:pt x="0" y="0"/>
                </a:moveTo>
                <a:lnTo>
                  <a:pt x="2137726" y="0"/>
                </a:lnTo>
                <a:lnTo>
                  <a:pt x="2137726" y="996154"/>
                </a:lnTo>
                <a:lnTo>
                  <a:pt x="0" y="99615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5" id="15"/>
          <p:cNvSpPr/>
          <p:nvPr/>
        </p:nvSpPr>
        <p:spPr>
          <a:xfrm flipH="false" flipV="false" rot="0">
            <a:off x="8280506" y="-1112150"/>
            <a:ext cx="1726988" cy="1924480"/>
          </a:xfrm>
          <a:custGeom>
            <a:avLst/>
            <a:gdLst/>
            <a:ahLst/>
            <a:cxnLst/>
            <a:rect r="r" b="b" t="t" l="l"/>
            <a:pathLst>
              <a:path h="1924480" w="1726988">
                <a:moveTo>
                  <a:pt x="0" y="0"/>
                </a:moveTo>
                <a:lnTo>
                  <a:pt x="1726988" y="0"/>
                </a:lnTo>
                <a:lnTo>
                  <a:pt x="1726988" y="1924480"/>
                </a:lnTo>
                <a:lnTo>
                  <a:pt x="0" y="192448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16" id="16"/>
          <p:cNvSpPr txBox="true"/>
          <p:nvPr/>
        </p:nvSpPr>
        <p:spPr>
          <a:xfrm rot="0">
            <a:off x="2867625" y="3933825"/>
            <a:ext cx="12552750" cy="2352675"/>
          </a:xfrm>
          <a:prstGeom prst="rect">
            <a:avLst/>
          </a:prstGeom>
        </p:spPr>
        <p:txBody>
          <a:bodyPr anchor="t" rtlCol="false" tIns="0" lIns="0" bIns="0" rIns="0">
            <a:spAutoFit/>
          </a:bodyPr>
          <a:lstStyle/>
          <a:p>
            <a:pPr algn="ctr">
              <a:lnSpc>
                <a:spcPts val="18000"/>
              </a:lnSpc>
            </a:pPr>
            <a:r>
              <a:rPr lang="en-US" sz="15000">
                <a:solidFill>
                  <a:srgbClr val="084B87"/>
                </a:solidFill>
                <a:latin typeface="Arimo"/>
                <a:ea typeface="Arimo"/>
                <a:cs typeface="Arimo"/>
                <a:sym typeface="Arim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DAG8kj2ppnw</dc:identifier>
  <dcterms:modified xsi:type="dcterms:W3CDTF">2011-08-01T06:04:30Z</dcterms:modified>
  <cp:revision>1</cp:revision>
  <dc:title>Thuyết trình thực tập</dc:title>
</cp:coreProperties>
</file>